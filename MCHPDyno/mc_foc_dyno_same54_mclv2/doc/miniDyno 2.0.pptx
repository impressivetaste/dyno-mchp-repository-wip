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1954" r:id="rId5"/>
    <p:sldId id="1963" r:id="rId6"/>
    <p:sldId id="1317" r:id="rId7"/>
    <p:sldId id="1447" r:id="rId8"/>
    <p:sldId id="1970" r:id="rId9"/>
    <p:sldId id="1315" r:id="rId10"/>
    <p:sldId id="1968" r:id="rId11"/>
    <p:sldId id="1964" r:id="rId12"/>
    <p:sldId id="1965" r:id="rId13"/>
    <p:sldId id="1966" r:id="rId14"/>
    <p:sldId id="1967" r:id="rId15"/>
    <p:sldId id="1318" r:id="rId16"/>
    <p:sldId id="1971" r:id="rId17"/>
    <p:sldId id="1322" r:id="rId18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9B6F5-AABA-467B-8EB4-8C690B75A110}" v="5" dt="2023-01-04T11:22:04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4779"/>
  </p:normalViewPr>
  <p:slideViewPr>
    <p:cSldViewPr snapToGrid="0" snapToObjects="1">
      <p:cViewPr varScale="1">
        <p:scale>
          <a:sx n="106" d="100"/>
          <a:sy n="106" d="100"/>
        </p:scale>
        <p:origin x="1188" y="96"/>
      </p:cViewPr>
      <p:guideLst>
        <p:guide orient="horz" pos="60"/>
        <p:guide pos="24"/>
        <p:guide orient="horz" pos="80"/>
        <p:guide pos="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3832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 Baumgartner - M91110" userId="a255f835-5420-492e-8402-b135e8392486" providerId="ADAL" clId="{8AF9B6F5-AABA-467B-8EB4-8C690B75A110}"/>
    <pc:docChg chg="custSel addSld delSld modSld sldOrd">
      <pc:chgData name="Christoph Baumgartner - M91110" userId="a255f835-5420-492e-8402-b135e8392486" providerId="ADAL" clId="{8AF9B6F5-AABA-467B-8EB4-8C690B75A110}" dt="2023-01-04T11:31:35.982" v="1168"/>
      <pc:docMkLst>
        <pc:docMk/>
      </pc:docMkLst>
      <pc:sldChg chg="modSp mod">
        <pc:chgData name="Christoph Baumgartner - M91110" userId="a255f835-5420-492e-8402-b135e8392486" providerId="ADAL" clId="{8AF9B6F5-AABA-467B-8EB4-8C690B75A110}" dt="2023-01-04T11:31:35.982" v="1168"/>
        <pc:sldMkLst>
          <pc:docMk/>
          <pc:sldMk cId="3500228926" sldId="1315"/>
        </pc:sldMkLst>
        <pc:spChg chg="mod">
          <ac:chgData name="Christoph Baumgartner - M91110" userId="a255f835-5420-492e-8402-b135e8392486" providerId="ADAL" clId="{8AF9B6F5-AABA-467B-8EB4-8C690B75A110}" dt="2023-01-04T11:31:11.757" v="1136" actId="14100"/>
          <ac:spMkLst>
            <pc:docMk/>
            <pc:sldMk cId="3500228926" sldId="1315"/>
            <ac:spMk id="5" creationId="{BB69A34C-E12B-421D-B807-9AD36A181762}"/>
          </ac:spMkLst>
        </pc:spChg>
        <pc:spChg chg="mod">
          <ac:chgData name="Christoph Baumgartner - M91110" userId="a255f835-5420-492e-8402-b135e8392486" providerId="ADAL" clId="{8AF9B6F5-AABA-467B-8EB4-8C690B75A110}" dt="2023-01-04T11:31:16.444" v="1166" actId="1038"/>
          <ac:spMkLst>
            <pc:docMk/>
            <pc:sldMk cId="3500228926" sldId="1315"/>
            <ac:spMk id="6" creationId="{75BCB866-05D5-4158-8532-1E7C0FF5FD51}"/>
          </ac:spMkLst>
        </pc:spChg>
        <pc:spChg chg="mod">
          <ac:chgData name="Christoph Baumgartner - M91110" userId="a255f835-5420-492e-8402-b135e8392486" providerId="ADAL" clId="{8AF9B6F5-AABA-467B-8EB4-8C690B75A110}" dt="2023-01-04T11:31:35.982" v="1168"/>
          <ac:spMkLst>
            <pc:docMk/>
            <pc:sldMk cId="3500228926" sldId="1315"/>
            <ac:spMk id="7" creationId="{41B68493-F438-481B-A1FE-52D64AA8531E}"/>
          </ac:spMkLst>
        </pc:spChg>
      </pc:sldChg>
      <pc:sldChg chg="ord">
        <pc:chgData name="Christoph Baumgartner - M91110" userId="a255f835-5420-492e-8402-b135e8392486" providerId="ADAL" clId="{8AF9B6F5-AABA-467B-8EB4-8C690B75A110}" dt="2023-01-04T11:23:02.893" v="586"/>
        <pc:sldMkLst>
          <pc:docMk/>
          <pc:sldMk cId="3769361279" sldId="1317"/>
        </pc:sldMkLst>
      </pc:sldChg>
      <pc:sldChg chg="modSp mod">
        <pc:chgData name="Christoph Baumgartner - M91110" userId="a255f835-5420-492e-8402-b135e8392486" providerId="ADAL" clId="{8AF9B6F5-AABA-467B-8EB4-8C690B75A110}" dt="2023-01-04T11:29:33.155" v="1092" actId="6549"/>
        <pc:sldMkLst>
          <pc:docMk/>
          <pc:sldMk cId="396886405" sldId="1447"/>
        </pc:sldMkLst>
        <pc:spChg chg="mod">
          <ac:chgData name="Christoph Baumgartner - M91110" userId="a255f835-5420-492e-8402-b135e8392486" providerId="ADAL" clId="{8AF9B6F5-AABA-467B-8EB4-8C690B75A110}" dt="2023-01-04T11:29:33.155" v="1092" actId="6549"/>
          <ac:spMkLst>
            <pc:docMk/>
            <pc:sldMk cId="396886405" sldId="1447"/>
            <ac:spMk id="3" creationId="{519C4526-5FC4-44DF-9265-1CC42377F5A7}"/>
          </ac:spMkLst>
        </pc:spChg>
      </pc:sldChg>
      <pc:sldChg chg="del">
        <pc:chgData name="Christoph Baumgartner - M91110" userId="a255f835-5420-492e-8402-b135e8392486" providerId="ADAL" clId="{8AF9B6F5-AABA-467B-8EB4-8C690B75A110}" dt="2023-01-04T11:29:10.825" v="1091" actId="47"/>
        <pc:sldMkLst>
          <pc:docMk/>
          <pc:sldMk cId="3725366079" sldId="1962"/>
        </pc:sldMkLst>
      </pc:sldChg>
      <pc:sldChg chg="modSp mod">
        <pc:chgData name="Christoph Baumgartner - M91110" userId="a255f835-5420-492e-8402-b135e8392486" providerId="ADAL" clId="{8AF9B6F5-AABA-467B-8EB4-8C690B75A110}" dt="2023-01-03T15:37:49.747" v="113" actId="20577"/>
        <pc:sldMkLst>
          <pc:docMk/>
          <pc:sldMk cId="1366539522" sldId="1967"/>
        </pc:sldMkLst>
        <pc:spChg chg="mod">
          <ac:chgData name="Christoph Baumgartner - M91110" userId="a255f835-5420-492e-8402-b135e8392486" providerId="ADAL" clId="{8AF9B6F5-AABA-467B-8EB4-8C690B75A110}" dt="2023-01-03T15:37:49.747" v="113" actId="20577"/>
          <ac:spMkLst>
            <pc:docMk/>
            <pc:sldMk cId="1366539522" sldId="1967"/>
            <ac:spMk id="2" creationId="{9C57705B-D6D8-91BB-371F-4E938C1983F4}"/>
          </ac:spMkLst>
        </pc:spChg>
      </pc:sldChg>
      <pc:sldChg chg="addSp delSp modSp new mod modClrScheme chgLayout">
        <pc:chgData name="Christoph Baumgartner - M91110" userId="a255f835-5420-492e-8402-b135e8392486" providerId="ADAL" clId="{8AF9B6F5-AABA-467B-8EB4-8C690B75A110}" dt="2023-01-04T11:22:35.409" v="584" actId="14100"/>
        <pc:sldMkLst>
          <pc:docMk/>
          <pc:sldMk cId="887028720" sldId="1968"/>
        </pc:sldMkLst>
        <pc:spChg chg="mod ord">
          <ac:chgData name="Christoph Baumgartner - M91110" userId="a255f835-5420-492e-8402-b135e8392486" providerId="ADAL" clId="{8AF9B6F5-AABA-467B-8EB4-8C690B75A110}" dt="2023-01-03T15:36:01.778" v="16" actId="700"/>
          <ac:spMkLst>
            <pc:docMk/>
            <pc:sldMk cId="887028720" sldId="1968"/>
            <ac:spMk id="2" creationId="{F2A9F155-12C0-2186-FCFA-9AE70846F326}"/>
          </ac:spMkLst>
        </pc:spChg>
        <pc:spChg chg="del mod ord">
          <ac:chgData name="Christoph Baumgartner - M91110" userId="a255f835-5420-492e-8402-b135e8392486" providerId="ADAL" clId="{8AF9B6F5-AABA-467B-8EB4-8C690B75A110}" dt="2023-01-03T15:35:55.747" v="15" actId="700"/>
          <ac:spMkLst>
            <pc:docMk/>
            <pc:sldMk cId="887028720" sldId="1968"/>
            <ac:spMk id="3" creationId="{C4768049-0709-9521-CEC1-02F470EDF118}"/>
          </ac:spMkLst>
        </pc:spChg>
        <pc:spChg chg="del mod ord">
          <ac:chgData name="Christoph Baumgartner - M91110" userId="a255f835-5420-492e-8402-b135e8392486" providerId="ADAL" clId="{8AF9B6F5-AABA-467B-8EB4-8C690B75A110}" dt="2023-01-03T15:35:55.747" v="15" actId="700"/>
          <ac:spMkLst>
            <pc:docMk/>
            <pc:sldMk cId="887028720" sldId="1968"/>
            <ac:spMk id="4" creationId="{0093B9CF-8E81-76B4-F982-59539239450F}"/>
          </ac:spMkLst>
        </pc:spChg>
        <pc:spChg chg="add del mod ord">
          <ac:chgData name="Christoph Baumgartner - M91110" userId="a255f835-5420-492e-8402-b135e8392486" providerId="ADAL" clId="{8AF9B6F5-AABA-467B-8EB4-8C690B75A110}" dt="2023-01-03T15:36:01.778" v="16" actId="700"/>
          <ac:spMkLst>
            <pc:docMk/>
            <pc:sldMk cId="887028720" sldId="1968"/>
            <ac:spMk id="5" creationId="{BA4B0FBE-C674-811A-346B-BE47D4DE2018}"/>
          </ac:spMkLst>
        </pc:spChg>
        <pc:spChg chg="add del mod ord">
          <ac:chgData name="Christoph Baumgartner - M91110" userId="a255f835-5420-492e-8402-b135e8392486" providerId="ADAL" clId="{8AF9B6F5-AABA-467B-8EB4-8C690B75A110}" dt="2023-01-03T15:36:01.778" v="16" actId="700"/>
          <ac:spMkLst>
            <pc:docMk/>
            <pc:sldMk cId="887028720" sldId="1968"/>
            <ac:spMk id="6" creationId="{9CA92427-88AA-A5FA-7B37-FFEB22BCB741}"/>
          </ac:spMkLst>
        </pc:spChg>
        <pc:spChg chg="add mod ord">
          <ac:chgData name="Christoph Baumgartner - M91110" userId="a255f835-5420-492e-8402-b135e8392486" providerId="ADAL" clId="{8AF9B6F5-AABA-467B-8EB4-8C690B75A110}" dt="2023-01-04T11:18:48.505" v="405" actId="5793"/>
          <ac:spMkLst>
            <pc:docMk/>
            <pc:sldMk cId="887028720" sldId="1968"/>
            <ac:spMk id="7" creationId="{ADD124B7-0D70-DF1D-674F-39C3DE33115F}"/>
          </ac:spMkLst>
        </pc:spChg>
        <pc:spChg chg="add mod">
          <ac:chgData name="Christoph Baumgartner - M91110" userId="a255f835-5420-492e-8402-b135e8392486" providerId="ADAL" clId="{8AF9B6F5-AABA-467B-8EB4-8C690B75A110}" dt="2023-01-04T11:21:27.341" v="530" actId="1037"/>
          <ac:spMkLst>
            <pc:docMk/>
            <pc:sldMk cId="887028720" sldId="1968"/>
            <ac:spMk id="9" creationId="{4E904770-4F21-3D7F-D744-5D3EC6FD0EFD}"/>
          </ac:spMkLst>
        </pc:spChg>
        <pc:spChg chg="add mod">
          <ac:chgData name="Christoph Baumgartner - M91110" userId="a255f835-5420-492e-8402-b135e8392486" providerId="ADAL" clId="{8AF9B6F5-AABA-467B-8EB4-8C690B75A110}" dt="2023-01-04T11:21:27.341" v="530" actId="1037"/>
          <ac:spMkLst>
            <pc:docMk/>
            <pc:sldMk cId="887028720" sldId="1968"/>
            <ac:spMk id="10" creationId="{5B20D798-6563-3869-DB78-41F740D7B5BA}"/>
          </ac:spMkLst>
        </pc:spChg>
        <pc:spChg chg="add mod">
          <ac:chgData name="Christoph Baumgartner - M91110" userId="a255f835-5420-492e-8402-b135e8392486" providerId="ADAL" clId="{8AF9B6F5-AABA-467B-8EB4-8C690B75A110}" dt="2023-01-04T11:22:31.740" v="583" actId="20577"/>
          <ac:spMkLst>
            <pc:docMk/>
            <pc:sldMk cId="887028720" sldId="1968"/>
            <ac:spMk id="17" creationId="{503F3814-B0E3-4A21-8241-B225D64E1DC1}"/>
          </ac:spMkLst>
        </pc:spChg>
        <pc:picChg chg="add mod">
          <ac:chgData name="Christoph Baumgartner - M91110" userId="a255f835-5420-492e-8402-b135e8392486" providerId="ADAL" clId="{8AF9B6F5-AABA-467B-8EB4-8C690B75A110}" dt="2023-01-04T11:21:27.341" v="530" actId="1037"/>
          <ac:picMkLst>
            <pc:docMk/>
            <pc:sldMk cId="887028720" sldId="1968"/>
            <ac:picMk id="4" creationId="{DEEF42DB-DF04-8A9D-0196-DC2D218DCD58}"/>
          </ac:picMkLst>
        </pc:picChg>
        <pc:picChg chg="add mod">
          <ac:chgData name="Christoph Baumgartner - M91110" userId="a255f835-5420-492e-8402-b135e8392486" providerId="ADAL" clId="{8AF9B6F5-AABA-467B-8EB4-8C690B75A110}" dt="2023-01-04T11:21:59.813" v="533" actId="1076"/>
          <ac:picMkLst>
            <pc:docMk/>
            <pc:sldMk cId="887028720" sldId="1968"/>
            <ac:picMk id="16" creationId="{029C21AA-D4D9-A7C0-934A-24175FB7CDDB}"/>
          </ac:picMkLst>
        </pc:picChg>
        <pc:cxnChg chg="add mod">
          <ac:chgData name="Christoph Baumgartner - M91110" userId="a255f835-5420-492e-8402-b135e8392486" providerId="ADAL" clId="{8AF9B6F5-AABA-467B-8EB4-8C690B75A110}" dt="2023-01-04T11:21:27.341" v="530" actId="1037"/>
          <ac:cxnSpMkLst>
            <pc:docMk/>
            <pc:sldMk cId="887028720" sldId="1968"/>
            <ac:cxnSpMk id="6" creationId="{99967373-A71C-0F45-FBA5-D53CBCD1FA17}"/>
          </ac:cxnSpMkLst>
        </pc:cxnChg>
        <pc:cxnChg chg="add mod">
          <ac:chgData name="Christoph Baumgartner - M91110" userId="a255f835-5420-492e-8402-b135e8392486" providerId="ADAL" clId="{8AF9B6F5-AABA-467B-8EB4-8C690B75A110}" dt="2023-01-04T11:21:27.341" v="530" actId="1037"/>
          <ac:cxnSpMkLst>
            <pc:docMk/>
            <pc:sldMk cId="887028720" sldId="1968"/>
            <ac:cxnSpMk id="11" creationId="{AECF0BC7-EEB4-08B2-8936-B5C09943D22F}"/>
          </ac:cxnSpMkLst>
        </pc:cxnChg>
        <pc:cxnChg chg="add mod">
          <ac:chgData name="Christoph Baumgartner - M91110" userId="a255f835-5420-492e-8402-b135e8392486" providerId="ADAL" clId="{8AF9B6F5-AABA-467B-8EB4-8C690B75A110}" dt="2023-01-04T11:22:35.409" v="584" actId="14100"/>
          <ac:cxnSpMkLst>
            <pc:docMk/>
            <pc:sldMk cId="887028720" sldId="1968"/>
            <ac:cxnSpMk id="18" creationId="{2C9638C3-7C88-23BE-D2CC-8E47F5A48F94}"/>
          </ac:cxnSpMkLst>
        </pc:cxnChg>
      </pc:sldChg>
      <pc:sldChg chg="modSp new del mod">
        <pc:chgData name="Christoph Baumgartner - M91110" userId="a255f835-5420-492e-8402-b135e8392486" providerId="ADAL" clId="{8AF9B6F5-AABA-467B-8EB4-8C690B75A110}" dt="2023-01-04T11:30:12.391" v="1093" actId="47"/>
        <pc:sldMkLst>
          <pc:docMk/>
          <pc:sldMk cId="595829643" sldId="1969"/>
        </pc:sldMkLst>
        <pc:spChg chg="mod">
          <ac:chgData name="Christoph Baumgartner - M91110" userId="a255f835-5420-492e-8402-b135e8392486" providerId="ADAL" clId="{8AF9B6F5-AABA-467B-8EB4-8C690B75A110}" dt="2023-01-04T08:20:07.903" v="175" actId="20577"/>
          <ac:spMkLst>
            <pc:docMk/>
            <pc:sldMk cId="595829643" sldId="1969"/>
            <ac:spMk id="2" creationId="{C7947B51-75FB-2A43-E7D7-B0B8593288AF}"/>
          </ac:spMkLst>
        </pc:spChg>
        <pc:spChg chg="mod">
          <ac:chgData name="Christoph Baumgartner - M91110" userId="a255f835-5420-492e-8402-b135e8392486" providerId="ADAL" clId="{8AF9B6F5-AABA-467B-8EB4-8C690B75A110}" dt="2023-01-04T08:19:58.952" v="156" actId="113"/>
          <ac:spMkLst>
            <pc:docMk/>
            <pc:sldMk cId="595829643" sldId="1969"/>
            <ac:spMk id="3" creationId="{234961A7-42C1-78E9-9D2A-A8DD5CC93DF5}"/>
          </ac:spMkLst>
        </pc:spChg>
      </pc:sldChg>
      <pc:sldChg chg="modSp new mod">
        <pc:chgData name="Christoph Baumgartner - M91110" userId="a255f835-5420-492e-8402-b135e8392486" providerId="ADAL" clId="{8AF9B6F5-AABA-467B-8EB4-8C690B75A110}" dt="2023-01-04T11:29:01.392" v="1090" actId="5793"/>
        <pc:sldMkLst>
          <pc:docMk/>
          <pc:sldMk cId="3818487694" sldId="1970"/>
        </pc:sldMkLst>
        <pc:spChg chg="mod">
          <ac:chgData name="Christoph Baumgartner - M91110" userId="a255f835-5420-492e-8402-b135e8392486" providerId="ADAL" clId="{8AF9B6F5-AABA-467B-8EB4-8C690B75A110}" dt="2023-01-04T11:29:01.392" v="1090" actId="5793"/>
          <ac:spMkLst>
            <pc:docMk/>
            <pc:sldMk cId="3818487694" sldId="1970"/>
            <ac:spMk id="2" creationId="{179DAFD5-13A5-6702-5C04-1246FE575AF6}"/>
          </ac:spMkLst>
        </pc:spChg>
        <pc:spChg chg="mod">
          <ac:chgData name="Christoph Baumgartner - M91110" userId="a255f835-5420-492e-8402-b135e8392486" providerId="ADAL" clId="{8AF9B6F5-AABA-467B-8EB4-8C690B75A110}" dt="2023-01-04T11:23:46.045" v="646" actId="20577"/>
          <ac:spMkLst>
            <pc:docMk/>
            <pc:sldMk cId="3818487694" sldId="1970"/>
            <ac:spMk id="3" creationId="{C7EF17B6-8DC0-CB67-ECE0-BDBAB972F8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11-Jan-23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11-Jan-23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AC3C0B-B88D-E8BD-1FAA-6FC6AB5089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06255" y="87814"/>
            <a:ext cx="2374506" cy="21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11 January 2023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9917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371602"/>
            <a:ext cx="538339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371602"/>
            <a:ext cx="538339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8396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9158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5948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090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72CD38-5843-799D-71C2-2848222D3DA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479820" y="-51276"/>
            <a:ext cx="12763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  <p:sldLayoutId id="2147483661" r:id="rId13"/>
    <p:sldLayoutId id="2147483662" r:id="rId14"/>
    <p:sldLayoutId id="2147483663" r:id="rId15"/>
    <p:sldLayoutId id="2147483668" r:id="rId16"/>
    <p:sldLayoutId id="2147483669" r:id="rId17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bitbucket.microchip.com/projects/X2C/repos/mc_foc_dyno_same54_mclv2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854E-F0FA-DA43-9468-0509537A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miniDyno</a:t>
            </a:r>
            <a:r>
              <a:rPr lang="en-US" dirty="0"/>
              <a:t> 2.0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3D081-4997-FF4D-B75C-F6275A20E9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01/2023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F16D4-E23A-8B42-AEFF-22E5AFC9F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 anchorCtr="0"/>
          <a:lstStyle/>
          <a:p>
            <a:r>
              <a:rPr lang="en-US" dirty="0"/>
              <a:t>Christoph Baumgartner</a:t>
            </a:r>
          </a:p>
        </p:txBody>
      </p:sp>
    </p:spTree>
    <p:extLst>
      <p:ext uri="{BB962C8B-B14F-4D97-AF65-F5344CB8AC3E}">
        <p14:creationId xmlns:p14="http://schemas.microsoft.com/office/powerpoint/2010/main" val="217652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8ADE30-00E3-F050-E4A3-651FA4AA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A6B99B-3E24-70F8-FCC6-D6165856DA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Easy Load testing without complicated application specific testbenches</a:t>
            </a:r>
          </a:p>
          <a:p>
            <a:r>
              <a:rPr lang="en-US" dirty="0"/>
              <a:t>Algorithm testing</a:t>
            </a:r>
          </a:p>
          <a:p>
            <a:pPr lvl="1"/>
            <a:r>
              <a:rPr lang="en-US" dirty="0"/>
              <a:t>Different load profiles for sensorless algorithms</a:t>
            </a:r>
          </a:p>
          <a:p>
            <a:r>
              <a:rPr lang="en-US" dirty="0"/>
              <a:t>AI/ML</a:t>
            </a:r>
          </a:p>
          <a:p>
            <a:pPr lvl="1"/>
            <a:r>
              <a:rPr lang="en-US" dirty="0"/>
              <a:t>Capture data for model training</a:t>
            </a:r>
          </a:p>
          <a:p>
            <a:pPr lvl="1"/>
            <a:r>
              <a:rPr lang="en-US" dirty="0"/>
              <a:t>Test different anomaly scenarios</a:t>
            </a:r>
          </a:p>
        </p:txBody>
      </p:sp>
    </p:spTree>
    <p:extLst>
      <p:ext uri="{BB962C8B-B14F-4D97-AF65-F5344CB8AC3E}">
        <p14:creationId xmlns:p14="http://schemas.microsoft.com/office/powerpoint/2010/main" val="189010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FBB819-E36D-44D1-A09B-2E1BFC2A7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0" dirty="0"/>
              <a:t>4Q operation (CW/CCW, motor/break)</a:t>
            </a:r>
          </a:p>
          <a:p>
            <a:pPr lvl="1"/>
            <a:r>
              <a:rPr lang="en-GB" sz="2000" dirty="0"/>
              <a:t>DYNO</a:t>
            </a:r>
          </a:p>
          <a:p>
            <a:pPr lvl="2"/>
            <a:r>
              <a:rPr lang="en-GB" sz="1600" dirty="0"/>
              <a:t>Constant load from potentiometer</a:t>
            </a:r>
          </a:p>
          <a:p>
            <a:pPr lvl="2"/>
            <a:r>
              <a:rPr lang="en-GB" sz="1600" dirty="0"/>
              <a:t>Constant load from variable</a:t>
            </a:r>
          </a:p>
          <a:p>
            <a:pPr lvl="2"/>
            <a:r>
              <a:rPr lang="en-GB" sz="1600" dirty="0"/>
              <a:t>Trapezoidal load (variables: frequency, raising/falling ramp, high/low value)</a:t>
            </a:r>
          </a:p>
          <a:p>
            <a:pPr lvl="2"/>
            <a:r>
              <a:rPr lang="en-GB" sz="1600" dirty="0"/>
              <a:t>Fan load (k*n²[rpm], </a:t>
            </a:r>
            <a:r>
              <a:rPr lang="en-GB" sz="1600" dirty="0" err="1"/>
              <a:t>variable:k</a:t>
            </a:r>
            <a:r>
              <a:rPr lang="en-GB" sz="1600" dirty="0"/>
              <a:t> </a:t>
            </a:r>
          </a:p>
          <a:p>
            <a:pPr lvl="2"/>
            <a:r>
              <a:rPr lang="en-GB" sz="1600" dirty="0"/>
              <a:t>Sine load ( variable: frequency, amplitude, offset)</a:t>
            </a:r>
          </a:p>
          <a:p>
            <a:pPr lvl="2"/>
            <a:r>
              <a:rPr lang="en-GB" sz="1600" dirty="0"/>
              <a:t>Angle dependent loads ( electrical/mechanical)</a:t>
            </a:r>
          </a:p>
          <a:p>
            <a:pPr lvl="3"/>
            <a:r>
              <a:rPr lang="en-GB" sz="1200" dirty="0"/>
              <a:t>3 different table dependent load profiles (variables: amplitude and offset)</a:t>
            </a:r>
          </a:p>
          <a:p>
            <a:pPr lvl="4"/>
            <a:r>
              <a:rPr lang="en-GB" sz="1200" dirty="0"/>
              <a:t>Unbalanced load (constant + sine)</a:t>
            </a:r>
          </a:p>
          <a:p>
            <a:pPr lvl="4"/>
            <a:r>
              <a:rPr lang="en-GB" sz="1200" dirty="0"/>
              <a:t>Broken bearing (constant + rectangle)</a:t>
            </a:r>
          </a:p>
          <a:p>
            <a:pPr lvl="4"/>
            <a:r>
              <a:rPr lang="en-GB" sz="1200" dirty="0"/>
              <a:t>Triangle ( constant + triangle)</a:t>
            </a:r>
          </a:p>
          <a:p>
            <a:pPr lvl="3"/>
            <a:r>
              <a:rPr lang="en-GB" sz="1200" dirty="0"/>
              <a:t>Various compressor load profiles possible</a:t>
            </a:r>
          </a:p>
          <a:p>
            <a:pPr lvl="1"/>
            <a:r>
              <a:rPr lang="en-GB" sz="2000" dirty="0"/>
              <a:t>MOTOR</a:t>
            </a:r>
          </a:p>
          <a:p>
            <a:pPr lvl="2"/>
            <a:r>
              <a:rPr lang="en-GB" sz="1600" dirty="0"/>
              <a:t>Constant torque</a:t>
            </a:r>
          </a:p>
          <a:p>
            <a:pPr lvl="2"/>
            <a:r>
              <a:rPr lang="en-GB" sz="1600" dirty="0"/>
              <a:t>Constant speed</a:t>
            </a:r>
          </a:p>
          <a:p>
            <a:pPr lvl="3"/>
            <a:r>
              <a:rPr lang="en-GB" sz="1200" dirty="0"/>
              <a:t>Potentiometer</a:t>
            </a:r>
          </a:p>
          <a:p>
            <a:pPr lvl="3"/>
            <a:r>
              <a:rPr lang="en-GB" sz="1200" dirty="0"/>
              <a:t>Variable</a:t>
            </a:r>
          </a:p>
          <a:p>
            <a:pPr lvl="3"/>
            <a:r>
              <a:rPr lang="en-GB" sz="1200" dirty="0"/>
              <a:t>Trapezoidal (variables: frequency, raising/falling ramp, high/low value)</a:t>
            </a:r>
          </a:p>
          <a:p>
            <a:pPr lvl="1"/>
            <a:endParaRPr lang="en-GB" sz="1200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2D085-A7C4-4C58-ACF2-82B0A5BB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miniDyno</a:t>
            </a:r>
            <a:r>
              <a:rPr lang="de-AT" dirty="0"/>
              <a:t> 2.0 </a:t>
            </a:r>
            <a:r>
              <a:rPr lang="de-AT" dirty="0" err="1"/>
              <a:t>features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25E2C-A3F5-26C2-31A1-62BE2B41B77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6742" y="4247610"/>
            <a:ext cx="3944178" cy="2104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51D60-CF9F-8753-1C7C-987C08F3F2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6742" y="951806"/>
            <a:ext cx="3939428" cy="3216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10F99-F2AE-DB9E-6513-962B43EBE5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0844" y="3902826"/>
            <a:ext cx="1869540" cy="177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819411-D3C9-478F-B5D6-999D24BFE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5929" y="4717357"/>
            <a:ext cx="2209225" cy="159834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89CDE8-86C6-4377-979D-1C8E87803FC5}"/>
              </a:ext>
            </a:extLst>
          </p:cNvPr>
          <p:cNvCxnSpPr>
            <a:cxnSpLocks/>
          </p:cNvCxnSpPr>
          <p:nvPr/>
        </p:nvCxnSpPr>
        <p:spPr>
          <a:xfrm>
            <a:off x="8487812" y="1138844"/>
            <a:ext cx="0" cy="480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A0B99C-8B76-48CF-930A-E02295055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3845013" y="4711933"/>
            <a:ext cx="2212848" cy="1600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A6B8E-2F9A-4488-B97B-00F9A8DB8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323" y="4645119"/>
            <a:ext cx="2590125" cy="12991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6D8379-5730-709E-7E4F-009ADBDBB3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604" y="1537558"/>
            <a:ext cx="5296440" cy="321218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19C4526-5FC4-44DF-9265-1CC42377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miniDyno</a:t>
            </a:r>
            <a:r>
              <a:rPr lang="de-AT" dirty="0"/>
              <a:t> 2.0</a:t>
            </a:r>
            <a:endParaRPr lang="en-GB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BCDC8-C698-4757-A6A5-5A986DB21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499495" y="4439923"/>
            <a:ext cx="2590125" cy="129914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113CB20-B4DC-471E-9CF0-13BCD00489A1}"/>
              </a:ext>
            </a:extLst>
          </p:cNvPr>
          <p:cNvSpPr/>
          <p:nvPr/>
        </p:nvSpPr>
        <p:spPr>
          <a:xfrm>
            <a:off x="3877381" y="4979320"/>
            <a:ext cx="662624" cy="3849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62FF84C-0649-440C-ADD8-6FF5F141AA5D}"/>
              </a:ext>
            </a:extLst>
          </p:cNvPr>
          <p:cNvSpPr/>
          <p:nvPr/>
        </p:nvSpPr>
        <p:spPr>
          <a:xfrm rot="10800000">
            <a:off x="9450116" y="4749620"/>
            <a:ext cx="662624" cy="3849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576A2DC-8C16-4C09-BA5F-60E1AA517566}"/>
              </a:ext>
            </a:extLst>
          </p:cNvPr>
          <p:cNvSpPr/>
          <p:nvPr/>
        </p:nvSpPr>
        <p:spPr>
          <a:xfrm>
            <a:off x="5484971" y="5718804"/>
            <a:ext cx="3017923" cy="10382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8A523-2691-4B14-A47A-D6D5589A3FC5}"/>
              </a:ext>
            </a:extLst>
          </p:cNvPr>
          <p:cNvSpPr txBox="1"/>
          <p:nvPr/>
        </p:nvSpPr>
        <p:spPr>
          <a:xfrm>
            <a:off x="468604" y="1099442"/>
            <a:ext cx="4402167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399" b="1" dirty="0"/>
              <a:t>dyno / generator / break / </a:t>
            </a:r>
            <a:r>
              <a:rPr lang="de-AT" sz="2399" b="1" dirty="0" err="1"/>
              <a:t>motor</a:t>
            </a:r>
            <a:endParaRPr lang="en-GB" sz="2399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86BAEF-7CC7-47DC-87FC-39231367C2BA}"/>
              </a:ext>
            </a:extLst>
          </p:cNvPr>
          <p:cNvSpPr txBox="1"/>
          <p:nvPr/>
        </p:nvSpPr>
        <p:spPr>
          <a:xfrm>
            <a:off x="8850357" y="1081861"/>
            <a:ext cx="978345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2399" b="1" dirty="0"/>
              <a:t>motor</a:t>
            </a:r>
            <a:endParaRPr lang="en-GB" sz="2399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F479B2-CC43-4882-890F-3B5BDC9718ED}"/>
              </a:ext>
            </a:extLst>
          </p:cNvPr>
          <p:cNvCxnSpPr>
            <a:stCxn id="5" idx="2"/>
          </p:cNvCxnSpPr>
          <p:nvPr/>
        </p:nvCxnSpPr>
        <p:spPr>
          <a:xfrm>
            <a:off x="3123386" y="5944267"/>
            <a:ext cx="0" cy="2272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571C7D-B1A8-4B0E-9850-40AE86418FAE}"/>
              </a:ext>
            </a:extLst>
          </p:cNvPr>
          <p:cNvCxnSpPr>
            <a:cxnSpLocks/>
          </p:cNvCxnSpPr>
          <p:nvPr/>
        </p:nvCxnSpPr>
        <p:spPr>
          <a:xfrm>
            <a:off x="3123386" y="6171486"/>
            <a:ext cx="77703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ED55B6-6CB8-43C3-BB47-23653217E2A2}"/>
              </a:ext>
            </a:extLst>
          </p:cNvPr>
          <p:cNvCxnSpPr/>
          <p:nvPr/>
        </p:nvCxnSpPr>
        <p:spPr>
          <a:xfrm flipV="1">
            <a:off x="10893762" y="5409684"/>
            <a:ext cx="0" cy="7618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B028A8-8A43-4C82-8FD4-880283F53E7C}"/>
              </a:ext>
            </a:extLst>
          </p:cNvPr>
          <p:cNvCxnSpPr>
            <a:cxnSpLocks/>
          </p:cNvCxnSpPr>
          <p:nvPr/>
        </p:nvCxnSpPr>
        <p:spPr>
          <a:xfrm>
            <a:off x="2982762" y="5944267"/>
            <a:ext cx="0" cy="376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73F9A3-333B-4881-A131-36FE7D71587D}"/>
              </a:ext>
            </a:extLst>
          </p:cNvPr>
          <p:cNvCxnSpPr>
            <a:cxnSpLocks/>
          </p:cNvCxnSpPr>
          <p:nvPr/>
        </p:nvCxnSpPr>
        <p:spPr>
          <a:xfrm>
            <a:off x="2971025" y="6321083"/>
            <a:ext cx="80750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3C0833B-0DED-405A-92A6-ECBF62E1701A}"/>
              </a:ext>
            </a:extLst>
          </p:cNvPr>
          <p:cNvCxnSpPr>
            <a:cxnSpLocks/>
          </p:cNvCxnSpPr>
          <p:nvPr/>
        </p:nvCxnSpPr>
        <p:spPr>
          <a:xfrm flipV="1">
            <a:off x="11046122" y="5406921"/>
            <a:ext cx="0" cy="914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A10F6FB-DEF1-470C-9342-CEE95BB05B05}"/>
              </a:ext>
            </a:extLst>
          </p:cNvPr>
          <p:cNvSpPr txBox="1"/>
          <p:nvPr/>
        </p:nvSpPr>
        <p:spPr>
          <a:xfrm>
            <a:off x="2894846" y="6365848"/>
            <a:ext cx="6613678" cy="276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dirty="0"/>
              <a:t>connect the powersupply lines to make sure the energy created from the generator is used somewhere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DFB43F-418A-433D-B3DB-B636A1C5B7EF}"/>
              </a:ext>
            </a:extLst>
          </p:cNvPr>
          <p:cNvSpPr txBox="1"/>
          <p:nvPr/>
        </p:nvSpPr>
        <p:spPr>
          <a:xfrm>
            <a:off x="8513545" y="3873310"/>
            <a:ext cx="913795" cy="584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199" b="1" dirty="0"/>
              <a:t>DUT</a:t>
            </a:r>
            <a:endParaRPr lang="en-GB" sz="3199" b="1" dirty="0"/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913152CD-DEA5-4AE9-A058-F9609B99B97D}"/>
              </a:ext>
            </a:extLst>
          </p:cNvPr>
          <p:cNvSpPr/>
          <p:nvPr/>
        </p:nvSpPr>
        <p:spPr>
          <a:xfrm rot="18649395">
            <a:off x="1531348" y="4507531"/>
            <a:ext cx="304721" cy="150851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100" dirty="0">
                <a:solidFill>
                  <a:schemeClr val="tx1"/>
                </a:solidFill>
              </a:rPr>
              <a:t>UART</a:t>
            </a:r>
            <a:endParaRPr lang="en-GB" sz="2399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161F35-9C9F-47DC-AFD1-59ECB6824DE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270" y="1537558"/>
            <a:ext cx="3622810" cy="193330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60CF8DD-F9ED-4165-93F8-3F10DDFFB268}"/>
              </a:ext>
            </a:extLst>
          </p:cNvPr>
          <p:cNvSpPr txBox="1"/>
          <p:nvPr/>
        </p:nvSpPr>
        <p:spPr>
          <a:xfrm>
            <a:off x="6054297" y="3771263"/>
            <a:ext cx="1527777" cy="1569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b="1" u="sng" dirty="0"/>
              <a:t>Loadprofile</a:t>
            </a:r>
            <a:endParaRPr lang="en-GB" sz="1200" b="1" u="sng" dirty="0"/>
          </a:p>
          <a:p>
            <a:r>
              <a:rPr lang="en-GB" sz="1200" b="1" dirty="0"/>
              <a:t>0 = pot</a:t>
            </a:r>
            <a:br>
              <a:rPr lang="en-GB" sz="1200" b="1" dirty="0"/>
            </a:br>
            <a:r>
              <a:rPr lang="en-GB" sz="1200" b="1" dirty="0">
                <a:solidFill>
                  <a:srgbClr val="92D050"/>
                </a:solidFill>
              </a:rPr>
              <a:t>1 = constant</a:t>
            </a:r>
            <a:br>
              <a:rPr lang="en-GB" sz="1200" b="1" dirty="0"/>
            </a:br>
            <a:r>
              <a:rPr lang="en-GB" sz="1200" b="1" dirty="0">
                <a:solidFill>
                  <a:srgbClr val="FF0000"/>
                </a:solidFill>
              </a:rPr>
              <a:t>2 = </a:t>
            </a:r>
            <a:r>
              <a:rPr lang="en-GB" sz="1200" b="1" dirty="0" err="1">
                <a:solidFill>
                  <a:srgbClr val="FF0000"/>
                </a:solidFill>
              </a:rPr>
              <a:t>trapizoid</a:t>
            </a:r>
            <a:br>
              <a:rPr lang="en-GB" sz="1200" b="1" dirty="0"/>
            </a:br>
            <a:r>
              <a:rPr lang="en-GB" sz="1200" b="1" dirty="0">
                <a:solidFill>
                  <a:srgbClr val="00B0F0"/>
                </a:solidFill>
              </a:rPr>
              <a:t>3 = fan</a:t>
            </a:r>
            <a:br>
              <a:rPr lang="en-GB" sz="1200" b="1" dirty="0"/>
            </a:br>
            <a:r>
              <a:rPr lang="en-GB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= sine</a:t>
            </a:r>
            <a:br>
              <a:rPr lang="en-GB" sz="1200" b="1" dirty="0"/>
            </a:br>
            <a:r>
              <a:rPr lang="en-GB" sz="1200" b="1" dirty="0"/>
              <a:t>5 = angle dependent </a:t>
            </a: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9688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9DAFD5-13A5-6702-5C04-1246FE57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miniDyno</a:t>
            </a:r>
            <a:r>
              <a:rPr lang="en-US" dirty="0"/>
              <a:t> 2.0 usage</a:t>
            </a:r>
          </a:p>
          <a:p>
            <a:pPr lvl="1"/>
            <a:r>
              <a:rPr lang="en-US" dirty="0"/>
              <a:t>Standalone</a:t>
            </a:r>
          </a:p>
          <a:p>
            <a:pPr lvl="2"/>
            <a:r>
              <a:rPr lang="en-US" dirty="0"/>
              <a:t>Microchip programmer (ICD4, PICKit4, SNAP)</a:t>
            </a:r>
          </a:p>
          <a:p>
            <a:pPr lvl="2"/>
            <a:r>
              <a:rPr lang="en-US" dirty="0"/>
              <a:t>Software to program a hex file (MPLAB X or IPE)</a:t>
            </a:r>
          </a:p>
          <a:p>
            <a:pPr lvl="2"/>
            <a:r>
              <a:rPr lang="en-US" b="1" dirty="0"/>
              <a:t>No SCILAB, X2C and XC32 compiler required</a:t>
            </a:r>
          </a:p>
          <a:p>
            <a:pPr marL="301752" lvl="1" indent="0">
              <a:buNone/>
            </a:pPr>
            <a:endParaRPr lang="en-US" dirty="0"/>
          </a:p>
          <a:p>
            <a:pPr lvl="1"/>
            <a:r>
              <a:rPr lang="en-US" dirty="0"/>
              <a:t>SCILAB/X2C environment requirements</a:t>
            </a:r>
          </a:p>
          <a:p>
            <a:pPr lvl="2"/>
            <a:r>
              <a:rPr lang="en-US" dirty="0"/>
              <a:t>Scilab 6.1.1 + X2C 6.4</a:t>
            </a:r>
          </a:p>
          <a:p>
            <a:pPr lvl="2"/>
            <a:r>
              <a:rPr lang="en-US" dirty="0"/>
              <a:t>MPLAB X development environment (MPLAB X 6, Harmony3, XC32 free)</a:t>
            </a:r>
          </a:p>
          <a:p>
            <a:pPr lvl="2"/>
            <a:r>
              <a:rPr lang="en-US" dirty="0"/>
              <a:t>Microchip programmer (ICD4, PICKit4, SNAP)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EF17B6-8DC0-CB67-ECE0-BDBAB972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usage: SCILAB / X2C or Standalone</a:t>
            </a:r>
          </a:p>
        </p:txBody>
      </p:sp>
    </p:spTree>
    <p:extLst>
      <p:ext uri="{BB962C8B-B14F-4D97-AF65-F5344CB8AC3E}">
        <p14:creationId xmlns:p14="http://schemas.microsoft.com/office/powerpoint/2010/main" val="381848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7D4600-DE19-4450-A236-D62DD17A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sz="3199" dirty="0"/>
              <a:t>How to use the X2C based DYNO standalone</a:t>
            </a:r>
            <a:endParaRPr lang="en-GB" sz="3199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69A34C-E12B-421D-B807-9AD36A181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440" y="1372137"/>
            <a:ext cx="5854734" cy="4113727"/>
          </a:xfrm>
        </p:spPr>
        <p:txBody>
          <a:bodyPr>
            <a:normAutofit/>
          </a:bodyPr>
          <a:lstStyle/>
          <a:p>
            <a:r>
              <a:rPr lang="de-AT" dirty="0"/>
              <a:t>Harware setup:</a:t>
            </a:r>
          </a:p>
          <a:p>
            <a:pPr lvl="1"/>
            <a:r>
              <a:rPr lang="de-AT" dirty="0"/>
              <a:t>MCLV-2</a:t>
            </a:r>
          </a:p>
          <a:p>
            <a:pPr lvl="1"/>
            <a:r>
              <a:rPr lang="de-AT" dirty="0"/>
              <a:t>ATSAME54</a:t>
            </a:r>
          </a:p>
          <a:p>
            <a:pPr lvl="1"/>
            <a:r>
              <a:rPr lang="de-AT" dirty="0"/>
              <a:t>Hurst300 motor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encoder</a:t>
            </a:r>
            <a:endParaRPr lang="de-AT" dirty="0"/>
          </a:p>
          <a:p>
            <a:pPr lvl="1"/>
            <a:r>
              <a:rPr lang="de-AT" dirty="0"/>
              <a:t>RS232 cable</a:t>
            </a:r>
          </a:p>
          <a:p>
            <a:pPr marL="514196" indent="-457063"/>
            <a:r>
              <a:rPr lang="de-AT" dirty="0"/>
              <a:t>Software setup</a:t>
            </a:r>
          </a:p>
          <a:p>
            <a:pPr marL="914126" lvl="1" indent="-457063"/>
            <a:r>
              <a:rPr lang="de-AT" dirty="0"/>
              <a:t>Microchip </a:t>
            </a:r>
            <a:r>
              <a:rPr lang="de-AT" dirty="0" err="1"/>
              <a:t>programmer</a:t>
            </a:r>
            <a:r>
              <a:rPr lang="de-AT" dirty="0"/>
              <a:t> (SW and HW)</a:t>
            </a:r>
          </a:p>
          <a:p>
            <a:pPr marL="457063" lvl="1" indent="0">
              <a:buNone/>
            </a:pPr>
            <a:endParaRPr lang="de-AT" dirty="0"/>
          </a:p>
          <a:p>
            <a:pPr marL="457063" lvl="1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CB866-05D5-4158-8532-1E7C0FF5F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2399" y="1371602"/>
            <a:ext cx="3976200" cy="4525963"/>
          </a:xfrm>
        </p:spPr>
        <p:txBody>
          <a:bodyPr>
            <a:normAutofit/>
          </a:bodyPr>
          <a:lstStyle/>
          <a:p>
            <a:r>
              <a:rPr lang="de-AT" sz="3200" dirty="0"/>
              <a:t>Settings</a:t>
            </a:r>
          </a:p>
          <a:p>
            <a:pPr lvl="1"/>
            <a:r>
              <a:rPr lang="de-AT" sz="2400" dirty="0"/>
              <a:t>JP1,2,3 -&gt; Curr</a:t>
            </a:r>
          </a:p>
          <a:p>
            <a:pPr lvl="1"/>
            <a:r>
              <a:rPr lang="de-AT" sz="2400" dirty="0"/>
              <a:t>JP4,5 -&gt; UART</a:t>
            </a:r>
          </a:p>
          <a:p>
            <a:pPr marL="457063" lvl="1" indent="0">
              <a:buNone/>
            </a:pPr>
            <a:endParaRPr lang="de-AT" sz="2400" dirty="0"/>
          </a:p>
          <a:p>
            <a:pPr lvl="1"/>
            <a:r>
              <a:rPr lang="de-AT" sz="2400" dirty="0"/>
              <a:t>M1 – red</a:t>
            </a:r>
          </a:p>
          <a:p>
            <a:pPr lvl="1"/>
            <a:r>
              <a:rPr lang="de-AT" sz="2400" dirty="0"/>
              <a:t>M2 – white</a:t>
            </a:r>
          </a:p>
          <a:p>
            <a:pPr lvl="1"/>
            <a:r>
              <a:rPr lang="de-AT" sz="2400" dirty="0"/>
              <a:t>M3 – black</a:t>
            </a:r>
          </a:p>
          <a:p>
            <a:pPr marL="457063" lvl="1" indent="0">
              <a:buNone/>
            </a:pPr>
            <a:endParaRPr lang="de-AT" sz="2400" dirty="0"/>
          </a:p>
          <a:p>
            <a:pPr lvl="1"/>
            <a:r>
              <a:rPr lang="de-AT" sz="2400" dirty="0"/>
              <a:t>HA – QEI </a:t>
            </a:r>
            <a:r>
              <a:rPr lang="de-AT" sz="2400" dirty="0" err="1"/>
              <a:t>white</a:t>
            </a:r>
            <a:endParaRPr lang="de-AT" sz="2400" dirty="0"/>
          </a:p>
          <a:p>
            <a:pPr lvl="1"/>
            <a:r>
              <a:rPr lang="de-AT" sz="2400" dirty="0"/>
              <a:t>HB – QEI </a:t>
            </a:r>
            <a:r>
              <a:rPr lang="de-AT" sz="2400" dirty="0" err="1"/>
              <a:t>blue</a:t>
            </a:r>
            <a:endParaRPr lang="de-AT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68493-F438-481B-A1FE-52D64AA8531E}"/>
              </a:ext>
            </a:extLst>
          </p:cNvPr>
          <p:cNvSpPr txBox="1"/>
          <p:nvPr/>
        </p:nvSpPr>
        <p:spPr>
          <a:xfrm>
            <a:off x="913924" y="5638224"/>
            <a:ext cx="8838323" cy="830524"/>
          </a:xfrm>
          <a:custGeom>
            <a:avLst/>
            <a:gdLst>
              <a:gd name="connsiteX0" fmla="*/ 0 w 8838323"/>
              <a:gd name="connsiteY0" fmla="*/ 0 h 830524"/>
              <a:gd name="connsiteX1" fmla="*/ 677605 w 8838323"/>
              <a:gd name="connsiteY1" fmla="*/ 0 h 830524"/>
              <a:gd name="connsiteX2" fmla="*/ 1001677 w 8838323"/>
              <a:gd name="connsiteY2" fmla="*/ 0 h 830524"/>
              <a:gd name="connsiteX3" fmla="*/ 1679281 w 8838323"/>
              <a:gd name="connsiteY3" fmla="*/ 0 h 830524"/>
              <a:gd name="connsiteX4" fmla="*/ 2003353 w 8838323"/>
              <a:gd name="connsiteY4" fmla="*/ 0 h 830524"/>
              <a:gd name="connsiteX5" fmla="*/ 2592575 w 8838323"/>
              <a:gd name="connsiteY5" fmla="*/ 0 h 830524"/>
              <a:gd name="connsiteX6" fmla="*/ 3005030 w 8838323"/>
              <a:gd name="connsiteY6" fmla="*/ 0 h 830524"/>
              <a:gd name="connsiteX7" fmla="*/ 3771018 w 8838323"/>
              <a:gd name="connsiteY7" fmla="*/ 0 h 830524"/>
              <a:gd name="connsiteX8" fmla="*/ 4360239 w 8838323"/>
              <a:gd name="connsiteY8" fmla="*/ 0 h 830524"/>
              <a:gd name="connsiteX9" fmla="*/ 4772694 w 8838323"/>
              <a:gd name="connsiteY9" fmla="*/ 0 h 830524"/>
              <a:gd name="connsiteX10" fmla="*/ 5538682 w 8838323"/>
              <a:gd name="connsiteY10" fmla="*/ 0 h 830524"/>
              <a:gd name="connsiteX11" fmla="*/ 5862754 w 8838323"/>
              <a:gd name="connsiteY11" fmla="*/ 0 h 830524"/>
              <a:gd name="connsiteX12" fmla="*/ 6363593 w 8838323"/>
              <a:gd name="connsiteY12" fmla="*/ 0 h 830524"/>
              <a:gd name="connsiteX13" fmla="*/ 6952814 w 8838323"/>
              <a:gd name="connsiteY13" fmla="*/ 0 h 830524"/>
              <a:gd name="connsiteX14" fmla="*/ 7365269 w 8838323"/>
              <a:gd name="connsiteY14" fmla="*/ 0 h 830524"/>
              <a:gd name="connsiteX15" fmla="*/ 7954491 w 8838323"/>
              <a:gd name="connsiteY15" fmla="*/ 0 h 830524"/>
              <a:gd name="connsiteX16" fmla="*/ 8838323 w 8838323"/>
              <a:gd name="connsiteY16" fmla="*/ 0 h 830524"/>
              <a:gd name="connsiteX17" fmla="*/ 8838323 w 8838323"/>
              <a:gd name="connsiteY17" fmla="*/ 431872 h 830524"/>
              <a:gd name="connsiteX18" fmla="*/ 8838323 w 8838323"/>
              <a:gd name="connsiteY18" fmla="*/ 830524 h 830524"/>
              <a:gd name="connsiteX19" fmla="*/ 8160718 w 8838323"/>
              <a:gd name="connsiteY19" fmla="*/ 830524 h 830524"/>
              <a:gd name="connsiteX20" fmla="*/ 7836646 w 8838323"/>
              <a:gd name="connsiteY20" fmla="*/ 830524 h 830524"/>
              <a:gd name="connsiteX21" fmla="*/ 7424191 w 8838323"/>
              <a:gd name="connsiteY21" fmla="*/ 830524 h 830524"/>
              <a:gd name="connsiteX22" fmla="*/ 7100119 w 8838323"/>
              <a:gd name="connsiteY22" fmla="*/ 830524 h 830524"/>
              <a:gd name="connsiteX23" fmla="*/ 6422515 w 8838323"/>
              <a:gd name="connsiteY23" fmla="*/ 830524 h 830524"/>
              <a:gd name="connsiteX24" fmla="*/ 5656527 w 8838323"/>
              <a:gd name="connsiteY24" fmla="*/ 830524 h 830524"/>
              <a:gd name="connsiteX25" fmla="*/ 5067305 w 8838323"/>
              <a:gd name="connsiteY25" fmla="*/ 830524 h 830524"/>
              <a:gd name="connsiteX26" fmla="*/ 4301317 w 8838323"/>
              <a:gd name="connsiteY26" fmla="*/ 830524 h 830524"/>
              <a:gd name="connsiteX27" fmla="*/ 3712096 w 8838323"/>
              <a:gd name="connsiteY27" fmla="*/ 830524 h 830524"/>
              <a:gd name="connsiteX28" fmla="*/ 2946108 w 8838323"/>
              <a:gd name="connsiteY28" fmla="*/ 830524 h 830524"/>
              <a:gd name="connsiteX29" fmla="*/ 2445269 w 8838323"/>
              <a:gd name="connsiteY29" fmla="*/ 830524 h 830524"/>
              <a:gd name="connsiteX30" fmla="*/ 1944431 w 8838323"/>
              <a:gd name="connsiteY30" fmla="*/ 830524 h 830524"/>
              <a:gd name="connsiteX31" fmla="*/ 1266826 w 8838323"/>
              <a:gd name="connsiteY31" fmla="*/ 830524 h 830524"/>
              <a:gd name="connsiteX32" fmla="*/ 765988 w 8838323"/>
              <a:gd name="connsiteY32" fmla="*/ 830524 h 830524"/>
              <a:gd name="connsiteX33" fmla="*/ 0 w 8838323"/>
              <a:gd name="connsiteY33" fmla="*/ 830524 h 830524"/>
              <a:gd name="connsiteX34" fmla="*/ 0 w 8838323"/>
              <a:gd name="connsiteY34" fmla="*/ 431872 h 830524"/>
              <a:gd name="connsiteX35" fmla="*/ 0 w 8838323"/>
              <a:gd name="connsiteY35" fmla="*/ 0 h 830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838323" h="830524" extrusionOk="0">
                <a:moveTo>
                  <a:pt x="0" y="0"/>
                </a:moveTo>
                <a:cubicBezTo>
                  <a:pt x="274550" y="-42770"/>
                  <a:pt x="431730" y="66432"/>
                  <a:pt x="677605" y="0"/>
                </a:cubicBezTo>
                <a:cubicBezTo>
                  <a:pt x="923480" y="-66432"/>
                  <a:pt x="863520" y="3583"/>
                  <a:pt x="1001677" y="0"/>
                </a:cubicBezTo>
                <a:cubicBezTo>
                  <a:pt x="1139834" y="-3583"/>
                  <a:pt x="1391538" y="54968"/>
                  <a:pt x="1679281" y="0"/>
                </a:cubicBezTo>
                <a:cubicBezTo>
                  <a:pt x="1967024" y="-54968"/>
                  <a:pt x="1924821" y="3450"/>
                  <a:pt x="2003353" y="0"/>
                </a:cubicBezTo>
                <a:cubicBezTo>
                  <a:pt x="2081885" y="-3450"/>
                  <a:pt x="2357948" y="55065"/>
                  <a:pt x="2592575" y="0"/>
                </a:cubicBezTo>
                <a:cubicBezTo>
                  <a:pt x="2827202" y="-55065"/>
                  <a:pt x="2827117" y="6089"/>
                  <a:pt x="3005030" y="0"/>
                </a:cubicBezTo>
                <a:cubicBezTo>
                  <a:pt x="3182944" y="-6089"/>
                  <a:pt x="3462473" y="35916"/>
                  <a:pt x="3771018" y="0"/>
                </a:cubicBezTo>
                <a:cubicBezTo>
                  <a:pt x="4079563" y="-35916"/>
                  <a:pt x="4164205" y="40107"/>
                  <a:pt x="4360239" y="0"/>
                </a:cubicBezTo>
                <a:cubicBezTo>
                  <a:pt x="4556273" y="-40107"/>
                  <a:pt x="4632719" y="8442"/>
                  <a:pt x="4772694" y="0"/>
                </a:cubicBezTo>
                <a:cubicBezTo>
                  <a:pt x="4912669" y="-8442"/>
                  <a:pt x="5161316" y="66001"/>
                  <a:pt x="5538682" y="0"/>
                </a:cubicBezTo>
                <a:cubicBezTo>
                  <a:pt x="5916048" y="-66001"/>
                  <a:pt x="5732225" y="33190"/>
                  <a:pt x="5862754" y="0"/>
                </a:cubicBezTo>
                <a:cubicBezTo>
                  <a:pt x="5993283" y="-33190"/>
                  <a:pt x="6214674" y="26763"/>
                  <a:pt x="6363593" y="0"/>
                </a:cubicBezTo>
                <a:cubicBezTo>
                  <a:pt x="6512512" y="-26763"/>
                  <a:pt x="6824139" y="67129"/>
                  <a:pt x="6952814" y="0"/>
                </a:cubicBezTo>
                <a:cubicBezTo>
                  <a:pt x="7081489" y="-67129"/>
                  <a:pt x="7172220" y="27827"/>
                  <a:pt x="7365269" y="0"/>
                </a:cubicBezTo>
                <a:cubicBezTo>
                  <a:pt x="7558319" y="-27827"/>
                  <a:pt x="7797378" y="509"/>
                  <a:pt x="7954491" y="0"/>
                </a:cubicBezTo>
                <a:cubicBezTo>
                  <a:pt x="8111604" y="-509"/>
                  <a:pt x="8625660" y="103121"/>
                  <a:pt x="8838323" y="0"/>
                </a:cubicBezTo>
                <a:cubicBezTo>
                  <a:pt x="8880916" y="129182"/>
                  <a:pt x="8788381" y="305852"/>
                  <a:pt x="8838323" y="431872"/>
                </a:cubicBezTo>
                <a:cubicBezTo>
                  <a:pt x="8888265" y="557892"/>
                  <a:pt x="8805539" y="739746"/>
                  <a:pt x="8838323" y="830524"/>
                </a:cubicBezTo>
                <a:cubicBezTo>
                  <a:pt x="8688823" y="902496"/>
                  <a:pt x="8432185" y="782317"/>
                  <a:pt x="8160718" y="830524"/>
                </a:cubicBezTo>
                <a:cubicBezTo>
                  <a:pt x="7889252" y="878731"/>
                  <a:pt x="7972522" y="803726"/>
                  <a:pt x="7836646" y="830524"/>
                </a:cubicBezTo>
                <a:cubicBezTo>
                  <a:pt x="7700770" y="857322"/>
                  <a:pt x="7572763" y="783505"/>
                  <a:pt x="7424191" y="830524"/>
                </a:cubicBezTo>
                <a:cubicBezTo>
                  <a:pt x="7275620" y="877543"/>
                  <a:pt x="7261710" y="804398"/>
                  <a:pt x="7100119" y="830524"/>
                </a:cubicBezTo>
                <a:cubicBezTo>
                  <a:pt x="6938528" y="856650"/>
                  <a:pt x="6591190" y="816755"/>
                  <a:pt x="6422515" y="830524"/>
                </a:cubicBezTo>
                <a:cubicBezTo>
                  <a:pt x="6253840" y="844293"/>
                  <a:pt x="5974320" y="808657"/>
                  <a:pt x="5656527" y="830524"/>
                </a:cubicBezTo>
                <a:cubicBezTo>
                  <a:pt x="5338734" y="852391"/>
                  <a:pt x="5207468" y="795145"/>
                  <a:pt x="5067305" y="830524"/>
                </a:cubicBezTo>
                <a:cubicBezTo>
                  <a:pt x="4927142" y="865903"/>
                  <a:pt x="4598240" y="821338"/>
                  <a:pt x="4301317" y="830524"/>
                </a:cubicBezTo>
                <a:cubicBezTo>
                  <a:pt x="4004394" y="839710"/>
                  <a:pt x="3961943" y="777535"/>
                  <a:pt x="3712096" y="830524"/>
                </a:cubicBezTo>
                <a:cubicBezTo>
                  <a:pt x="3462249" y="883513"/>
                  <a:pt x="3257809" y="770375"/>
                  <a:pt x="2946108" y="830524"/>
                </a:cubicBezTo>
                <a:cubicBezTo>
                  <a:pt x="2634407" y="890673"/>
                  <a:pt x="2550525" y="787615"/>
                  <a:pt x="2445269" y="830524"/>
                </a:cubicBezTo>
                <a:cubicBezTo>
                  <a:pt x="2340013" y="873433"/>
                  <a:pt x="2046549" y="823207"/>
                  <a:pt x="1944431" y="830524"/>
                </a:cubicBezTo>
                <a:cubicBezTo>
                  <a:pt x="1842313" y="837841"/>
                  <a:pt x="1444693" y="817257"/>
                  <a:pt x="1266826" y="830524"/>
                </a:cubicBezTo>
                <a:cubicBezTo>
                  <a:pt x="1088960" y="843791"/>
                  <a:pt x="892919" y="792626"/>
                  <a:pt x="765988" y="830524"/>
                </a:cubicBezTo>
                <a:cubicBezTo>
                  <a:pt x="639057" y="868422"/>
                  <a:pt x="245001" y="751508"/>
                  <a:pt x="0" y="830524"/>
                </a:cubicBezTo>
                <a:cubicBezTo>
                  <a:pt x="-27026" y="661566"/>
                  <a:pt x="37311" y="601479"/>
                  <a:pt x="0" y="431872"/>
                </a:cubicBezTo>
                <a:cubicBezTo>
                  <a:pt x="-37311" y="262265"/>
                  <a:pt x="51273" y="12466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788714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de-AT" sz="2399" b="1" dirty="0">
                <a:solidFill>
                  <a:srgbClr val="FF0000"/>
                </a:solidFill>
              </a:rPr>
              <a:t>ATTENTION:</a:t>
            </a:r>
          </a:p>
          <a:p>
            <a:r>
              <a:rPr lang="de-AT" sz="2399" b="1" dirty="0"/>
              <a:t>Make sure the DYNO board power is connected to the motor board!</a:t>
            </a:r>
            <a:endParaRPr lang="en-GB" sz="2399" b="1" dirty="0"/>
          </a:p>
        </p:txBody>
      </p:sp>
    </p:spTree>
    <p:extLst>
      <p:ext uri="{BB962C8B-B14F-4D97-AF65-F5344CB8AC3E}">
        <p14:creationId xmlns:p14="http://schemas.microsoft.com/office/powerpoint/2010/main" val="350022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F155-12C0-2186-FCFA-9AE70846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D124B7-0D70-DF1D-674F-39C3DE33115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Bitbucket </a:t>
            </a:r>
          </a:p>
          <a:p>
            <a:pPr lvl="1"/>
            <a:r>
              <a:rPr lang="en-US" sz="1200" b="0" dirty="0">
                <a:hlinkClick r:id="rId2"/>
              </a:rPr>
              <a:t>https://bitbucket.microchip.com/projects/X2C/repos/mc_foc_dyno_same54_mclv2/</a:t>
            </a:r>
            <a:endParaRPr lang="en-US" sz="1200" b="0" dirty="0"/>
          </a:p>
          <a:p>
            <a:r>
              <a:rPr lang="en-US" sz="1600" b="0" dirty="0"/>
              <a:t>Move to </a:t>
            </a:r>
            <a:r>
              <a:rPr lang="en-US" sz="1600" b="0" dirty="0">
                <a:latin typeface="Courier Code"/>
              </a:rPr>
              <a:t>[..\mc_foc_dyno_same54_mclv2\doc\standalone]</a:t>
            </a:r>
          </a:p>
          <a:p>
            <a:r>
              <a:rPr lang="en-US" sz="1600" b="0" dirty="0"/>
              <a:t>Program </a:t>
            </a:r>
            <a:r>
              <a:rPr lang="en-US" sz="1600" b="0" dirty="0">
                <a:latin typeface="Courier Code"/>
              </a:rPr>
              <a:t>[MC_FOC_DYNO_SAME54_MCLV2.X.production.hex] </a:t>
            </a:r>
            <a:r>
              <a:rPr lang="en-US" sz="1600" b="0" dirty="0"/>
              <a:t>onto your SAME54 PIM</a:t>
            </a:r>
          </a:p>
          <a:p>
            <a:r>
              <a:rPr lang="en-US" sz="1600" b="0" dirty="0"/>
              <a:t>Disconnect the programmer and reset the MCLV-2 board</a:t>
            </a:r>
          </a:p>
          <a:p>
            <a:r>
              <a:rPr lang="en-US" sz="1600" b="0" dirty="0"/>
              <a:t>Execute </a:t>
            </a:r>
            <a:r>
              <a:rPr lang="en-US" sz="1600" b="0" dirty="0">
                <a:latin typeface="Courier Code"/>
              </a:rPr>
              <a:t>[start.bat]</a:t>
            </a:r>
          </a:p>
          <a:p>
            <a:endParaRPr lang="en-US" sz="1600" b="0" dirty="0"/>
          </a:p>
          <a:p>
            <a:pPr marL="0" indent="0">
              <a:buNone/>
            </a:pPr>
            <a:endParaRPr lang="en-US" sz="1600" b="0" dirty="0"/>
          </a:p>
          <a:p>
            <a:endParaRPr lang="en-US" sz="16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F42DB-DF04-8A9D-0196-DC2D218DCD5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2790" y="2933322"/>
            <a:ext cx="2590051" cy="266101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967373-A71C-0F45-FBA5-D53CBCD1FA17}"/>
              </a:ext>
            </a:extLst>
          </p:cNvPr>
          <p:cNvCxnSpPr>
            <a:cxnSpLocks/>
          </p:cNvCxnSpPr>
          <p:nvPr/>
        </p:nvCxnSpPr>
        <p:spPr>
          <a:xfrm>
            <a:off x="2462549" y="4997514"/>
            <a:ext cx="697117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904770-4F21-3D7F-D744-5D3EC6FD0EFD}"/>
              </a:ext>
            </a:extLst>
          </p:cNvPr>
          <p:cNvSpPr txBox="1"/>
          <p:nvPr/>
        </p:nvSpPr>
        <p:spPr>
          <a:xfrm>
            <a:off x="566296" y="4843625"/>
            <a:ext cx="19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1: select your COM 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0D798-6563-3869-DB78-41F740D7B5BA}"/>
              </a:ext>
            </a:extLst>
          </p:cNvPr>
          <p:cNvSpPr txBox="1"/>
          <p:nvPr/>
        </p:nvSpPr>
        <p:spPr>
          <a:xfrm>
            <a:off x="662714" y="3246442"/>
            <a:ext cx="20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2: press the connect icon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CF0BC7-EEB4-08B2-8936-B5C09943D22F}"/>
              </a:ext>
            </a:extLst>
          </p:cNvPr>
          <p:cNvCxnSpPr>
            <a:cxnSpLocks/>
          </p:cNvCxnSpPr>
          <p:nvPr/>
        </p:nvCxnSpPr>
        <p:spPr>
          <a:xfrm>
            <a:off x="2616458" y="3400331"/>
            <a:ext cx="406332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29C21AA-D4D9-A7C0-934A-24175FB7CD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2189" y="2631146"/>
            <a:ext cx="3703981" cy="33037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F3814-B0E3-4A21-8241-B225D64E1DC1}"/>
              </a:ext>
            </a:extLst>
          </p:cNvPr>
          <p:cNvSpPr txBox="1"/>
          <p:nvPr/>
        </p:nvSpPr>
        <p:spPr>
          <a:xfrm>
            <a:off x="5930330" y="3072959"/>
            <a:ext cx="1985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3: change to [Model] tab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9638C3-7C88-23BE-D2CC-8E47F5A48F94}"/>
              </a:ext>
            </a:extLst>
          </p:cNvPr>
          <p:cNvCxnSpPr>
            <a:cxnSpLocks/>
          </p:cNvCxnSpPr>
          <p:nvPr/>
        </p:nvCxnSpPr>
        <p:spPr>
          <a:xfrm>
            <a:off x="7916195" y="3226848"/>
            <a:ext cx="654861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02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FBB819-E36D-44D1-A09B-2E1BFC2A7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8680" lvl="3" indent="0">
              <a:buNone/>
            </a:pPr>
            <a:endParaRPr lang="en-GB" sz="1200" dirty="0"/>
          </a:p>
          <a:p>
            <a:pPr lvl="1"/>
            <a:endParaRPr lang="en-GB" sz="1200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2D085-A7C4-4C58-ACF2-82B0A5BB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miniDyno</a:t>
            </a:r>
            <a:r>
              <a:rPr lang="de-AT" dirty="0"/>
              <a:t> 2.0 </a:t>
            </a:r>
            <a:r>
              <a:rPr lang="de-AT" dirty="0" err="1"/>
              <a:t>setup</a:t>
            </a:r>
            <a:endParaRPr lang="en-GB" dirty="0"/>
          </a:p>
        </p:txBody>
      </p:sp>
      <p:pic>
        <p:nvPicPr>
          <p:cNvPr id="4" name="Picture 3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E5BF8808-E022-16EA-9F3C-BB3F036774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3235" y="2233331"/>
            <a:ext cx="5802354" cy="3929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828D9-3482-010D-593A-B81E95302FDC}"/>
              </a:ext>
            </a:extLst>
          </p:cNvPr>
          <p:cNvSpPr txBox="1"/>
          <p:nvPr/>
        </p:nvSpPr>
        <p:spPr>
          <a:xfrm>
            <a:off x="3108961" y="6086729"/>
            <a:ext cx="1385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miniDyno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D73ED-9407-26EC-88AC-D5C1BCDE17AF}"/>
              </a:ext>
            </a:extLst>
          </p:cNvPr>
          <p:cNvSpPr txBox="1"/>
          <p:nvPr/>
        </p:nvSpPr>
        <p:spPr>
          <a:xfrm>
            <a:off x="8034877" y="6086729"/>
            <a:ext cx="960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motor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75088-5DC1-FBFE-C258-8D869970CC0D}"/>
              </a:ext>
            </a:extLst>
          </p:cNvPr>
          <p:cNvSpPr txBox="1"/>
          <p:nvPr/>
        </p:nvSpPr>
        <p:spPr>
          <a:xfrm>
            <a:off x="4162153" y="1260714"/>
            <a:ext cx="32137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Magtrol</a:t>
            </a:r>
            <a:r>
              <a:rPr lang="en-US" dirty="0"/>
              <a:t> TS105/011</a:t>
            </a:r>
          </a:p>
          <a:p>
            <a:pPr algn="ctr"/>
            <a:r>
              <a:rPr lang="en-US" dirty="0"/>
              <a:t>torque sensor (optional)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D7D1F8-6C98-235B-C4EF-4AFD132C49F0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769033" y="2091711"/>
            <a:ext cx="3" cy="56004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Computer outline">
            <a:extLst>
              <a:ext uri="{FF2B5EF4-FFF2-40B4-BE49-F238E27FC236}">
                <a16:creationId xmlns:a16="http://schemas.microsoft.com/office/drawing/2014/main" id="{7EDFCB43-28DE-7A7D-8FB2-1B7325566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509" y="3677235"/>
            <a:ext cx="2058380" cy="2058380"/>
          </a:xfrm>
          <a:prstGeom prst="rect">
            <a:avLst/>
          </a:prstGeom>
        </p:spPr>
      </p:pic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5CA7F895-2203-215D-5B09-CF9CC46D769F}"/>
              </a:ext>
            </a:extLst>
          </p:cNvPr>
          <p:cNvCxnSpPr>
            <a:cxnSpLocks/>
          </p:cNvCxnSpPr>
          <p:nvPr/>
        </p:nvCxnSpPr>
        <p:spPr>
          <a:xfrm rot="10800000">
            <a:off x="2356659" y="5132943"/>
            <a:ext cx="1180407" cy="735842"/>
          </a:xfrm>
          <a:prstGeom prst="curvedConnector3">
            <a:avLst/>
          </a:prstGeom>
          <a:ln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105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DA9633-7F4E-7B1B-5E61-138F8C3C3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Unified motor bracket: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32362-0544-B499-A2CD-2C692088CDD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403" y="929269"/>
            <a:ext cx="5294058" cy="5374679"/>
          </a:xfr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F6B589C-F35A-4BDD-3711-3E74729AA2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</p:spPr>
        <p:txBody>
          <a:bodyPr>
            <a:normAutofit/>
          </a:bodyPr>
          <a:lstStyle/>
          <a:p>
            <a:r>
              <a:rPr lang="en-US" dirty="0" err="1"/>
              <a:t>OpenSCAD</a:t>
            </a:r>
            <a:r>
              <a:rPr lang="en-US" dirty="0"/>
              <a:t> design</a:t>
            </a:r>
          </a:p>
          <a:p>
            <a:r>
              <a:rPr lang="en-US" dirty="0"/>
              <a:t>Same basic dimensions</a:t>
            </a:r>
          </a:p>
          <a:p>
            <a:r>
              <a:rPr lang="en-US" dirty="0"/>
              <a:t>Motor mounting can be adjusted</a:t>
            </a:r>
          </a:p>
          <a:p>
            <a:r>
              <a:rPr lang="en-US" dirty="0"/>
              <a:t>3D printable</a:t>
            </a:r>
          </a:p>
          <a:p>
            <a:pPr lvl="1"/>
            <a:r>
              <a:rPr lang="en-US" dirty="0"/>
              <a:t>PLA</a:t>
            </a:r>
          </a:p>
          <a:p>
            <a:pPr lvl="1"/>
            <a:r>
              <a:rPr lang="en-US" dirty="0"/>
              <a:t>Layer 0.2mm</a:t>
            </a:r>
          </a:p>
          <a:p>
            <a:pPr lvl="1"/>
            <a:r>
              <a:rPr lang="en-US" dirty="0"/>
              <a:t>Infill 60% </a:t>
            </a:r>
          </a:p>
          <a:p>
            <a:pPr marL="301752" lvl="1" indent="0">
              <a:buNone/>
            </a:pPr>
            <a:endParaRPr lang="en-US" dirty="0"/>
          </a:p>
          <a:p>
            <a:pPr marL="0" indent="-119">
              <a:buNone/>
            </a:pPr>
            <a:r>
              <a:rPr lang="en-US" sz="1600" dirty="0"/>
              <a:t>..\mc_foc_dyno_same54_mclv2\doc\3Dparts</a:t>
            </a:r>
          </a:p>
        </p:txBody>
      </p:sp>
    </p:spTree>
    <p:extLst>
      <p:ext uri="{BB962C8B-B14F-4D97-AF65-F5344CB8AC3E}">
        <p14:creationId xmlns:p14="http://schemas.microsoft.com/office/powerpoint/2010/main" val="340331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ink&#10;&#10;Description automatically generated">
            <a:extLst>
              <a:ext uri="{FF2B5EF4-FFF2-40B4-BE49-F238E27FC236}">
                <a16:creationId xmlns:a16="http://schemas.microsoft.com/office/drawing/2014/main" id="{4BF6228F-345A-EBB1-48D5-0C9408DF5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600" y="2181261"/>
            <a:ext cx="11399838" cy="312889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DDA9633-7F4E-7B1B-5E61-138F8C3C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motor bracket:</a:t>
            </a:r>
          </a:p>
        </p:txBody>
      </p:sp>
    </p:spTree>
    <p:extLst>
      <p:ext uri="{BB962C8B-B14F-4D97-AF65-F5344CB8AC3E}">
        <p14:creationId xmlns:p14="http://schemas.microsoft.com/office/powerpoint/2010/main" val="373318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57705B-D6D8-91BB-371F-4E938C198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Motor position control (for ZSMT tuning)</a:t>
            </a:r>
          </a:p>
          <a:p>
            <a:r>
              <a:rPr lang="en-US" dirty="0"/>
              <a:t>Standalone GUI</a:t>
            </a:r>
          </a:p>
          <a:p>
            <a:r>
              <a:rPr lang="en-US" dirty="0"/>
              <a:t>Using </a:t>
            </a:r>
            <a:r>
              <a:rPr lang="en-US" dirty="0" err="1"/>
              <a:t>torquesensor</a:t>
            </a:r>
            <a:r>
              <a:rPr lang="en-US" dirty="0"/>
              <a:t> for calibration</a:t>
            </a:r>
          </a:p>
          <a:p>
            <a:pPr lvl="1"/>
            <a:r>
              <a:rPr lang="en-US" dirty="0"/>
              <a:t>Real </a:t>
            </a:r>
            <a:r>
              <a:rPr lang="en-US" dirty="0" err="1"/>
              <a:t>torquecontrol</a:t>
            </a:r>
            <a:endParaRPr lang="en-US" dirty="0"/>
          </a:p>
          <a:p>
            <a:r>
              <a:rPr lang="en-US" dirty="0"/>
              <a:t>Add input/output power measurement</a:t>
            </a:r>
          </a:p>
          <a:p>
            <a:r>
              <a:rPr lang="en-US" dirty="0"/>
              <a:t>MCHV-2/3 version in preparation</a:t>
            </a:r>
          </a:p>
          <a:p>
            <a:r>
              <a:rPr lang="en-US" dirty="0"/>
              <a:t>Porting to MCLV-48V-300W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3C0092-2278-663C-29E0-832188D3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enhancements:</a:t>
            </a:r>
          </a:p>
        </p:txBody>
      </p:sp>
    </p:spTree>
    <p:extLst>
      <p:ext uri="{BB962C8B-B14F-4D97-AF65-F5344CB8AC3E}">
        <p14:creationId xmlns:p14="http://schemas.microsoft.com/office/powerpoint/2010/main" val="1366539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1B1617-CAEF-4A6A-8EC5-B397CC09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Modify [</a:t>
            </a:r>
            <a:r>
              <a:rPr lang="de-AT" dirty="0" err="1"/>
              <a:t>Dyno</a:t>
            </a:r>
            <a:r>
              <a:rPr lang="de-AT" dirty="0"/>
              <a:t>] </a:t>
            </a:r>
            <a:r>
              <a:rPr lang="de-AT" dirty="0" err="1"/>
              <a:t>paramters</a:t>
            </a:r>
            <a:r>
              <a:rPr lang="de-AT" dirty="0"/>
              <a:t> – </a:t>
            </a:r>
            <a:r>
              <a:rPr lang="de-AT" dirty="0" err="1"/>
              <a:t>torque_profile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1F9DD-58E1-408C-A5BD-C47F9B1125CB}"/>
              </a:ext>
            </a:extLst>
          </p:cNvPr>
          <p:cNvSpPr/>
          <p:nvPr/>
        </p:nvSpPr>
        <p:spPr>
          <a:xfrm>
            <a:off x="1066522" y="1905397"/>
            <a:ext cx="440151" cy="22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D9528-DFD6-403B-B228-AD8AAB260F48}"/>
              </a:ext>
            </a:extLst>
          </p:cNvPr>
          <p:cNvSpPr txBox="1"/>
          <p:nvPr/>
        </p:nvSpPr>
        <p:spPr>
          <a:xfrm>
            <a:off x="6055839" y="1039091"/>
            <a:ext cx="548497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b="1" dirty="0" err="1"/>
              <a:t>torque_mode</a:t>
            </a:r>
            <a:endParaRPr lang="de-AT" sz="1100" b="1" dirty="0"/>
          </a:p>
          <a:p>
            <a:r>
              <a:rPr lang="de-AT" sz="1100" dirty="0"/>
              <a:t>0:	Constant </a:t>
            </a:r>
            <a:r>
              <a:rPr lang="de-AT" sz="1100" dirty="0" err="1"/>
              <a:t>load</a:t>
            </a:r>
            <a:r>
              <a:rPr lang="de-AT" sz="1100" dirty="0"/>
              <a:t>: </a:t>
            </a:r>
            <a:r>
              <a:rPr lang="de-AT" sz="1100" dirty="0" err="1"/>
              <a:t>potentiometer</a:t>
            </a:r>
            <a:endParaRPr lang="de-AT" sz="1100" dirty="0"/>
          </a:p>
          <a:p>
            <a:r>
              <a:rPr lang="de-AT" sz="1100" dirty="0"/>
              <a:t>1:	</a:t>
            </a:r>
            <a:r>
              <a:rPr lang="de-AT" sz="1100" dirty="0" err="1"/>
              <a:t>Constand</a:t>
            </a:r>
            <a:r>
              <a:rPr lang="de-AT" sz="1100" dirty="0"/>
              <a:t> </a:t>
            </a:r>
            <a:r>
              <a:rPr lang="de-AT" sz="1100" dirty="0" err="1"/>
              <a:t>load</a:t>
            </a:r>
            <a:r>
              <a:rPr lang="de-AT" sz="1100" dirty="0"/>
              <a:t>:</a:t>
            </a:r>
          </a:p>
          <a:p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const_torque:Value</a:t>
            </a:r>
            <a:r>
              <a:rPr lang="de-AT" sz="1100" dirty="0"/>
              <a:t>]</a:t>
            </a:r>
          </a:p>
          <a:p>
            <a:r>
              <a:rPr lang="de-AT" sz="1100" dirty="0"/>
              <a:t>2:	</a:t>
            </a:r>
            <a:r>
              <a:rPr lang="de-AT" sz="1100" dirty="0" err="1"/>
              <a:t>Trapizoid</a:t>
            </a:r>
            <a:r>
              <a:rPr lang="de-AT" sz="1100" dirty="0"/>
              <a:t> load: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t_load_f:Value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t_load_high:Value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t_load_low:Value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t_load_rate:Tr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t_load_rate:Tf</a:t>
            </a:r>
            <a:r>
              <a:rPr lang="de-AT" sz="1100" dirty="0"/>
              <a:t>]</a:t>
            </a:r>
          </a:p>
          <a:p>
            <a:r>
              <a:rPr lang="de-AT" sz="1100" dirty="0"/>
              <a:t>3:	Fan load: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 err="1">
                <a:latin typeface="Courier Code" panose="02000509000000000000" pitchFamily="49" charset="0"/>
              </a:rPr>
              <a:t>fan_gain:Gain</a:t>
            </a:r>
            <a:r>
              <a:rPr lang="de-AT" sz="1100" dirty="0"/>
              <a:t>]</a:t>
            </a:r>
          </a:p>
          <a:p>
            <a:r>
              <a:rPr lang="de-AT" sz="1100" dirty="0"/>
              <a:t>4:	Sine load: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sine_A:Value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Sin_f:Value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Sin_load:fmax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Sin_load:Offset</a:t>
            </a:r>
            <a:r>
              <a:rPr lang="de-AT" sz="1100" dirty="0"/>
              <a:t>]</a:t>
            </a:r>
          </a:p>
          <a:p>
            <a:r>
              <a:rPr lang="de-AT" sz="1100" dirty="0"/>
              <a:t>5:	</a:t>
            </a:r>
            <a:r>
              <a:rPr lang="de-AT" sz="1100" dirty="0" err="1"/>
              <a:t>unbalanced</a:t>
            </a:r>
            <a:r>
              <a:rPr lang="de-AT" sz="1100" dirty="0"/>
              <a:t> </a:t>
            </a:r>
            <a:r>
              <a:rPr lang="de-AT" sz="1100" dirty="0" err="1"/>
              <a:t>load</a:t>
            </a:r>
            <a:r>
              <a:rPr lang="de-AT" sz="1100" dirty="0"/>
              <a:t>:</a:t>
            </a:r>
          </a:p>
          <a:p>
            <a:pPr marL="457063" lvl="1"/>
            <a:r>
              <a:rPr lang="de-AT" sz="1100" dirty="0"/>
              <a:t>	 [</a:t>
            </a:r>
            <a:r>
              <a:rPr lang="de-AT" sz="1100" dirty="0">
                <a:latin typeface="Courier Code" panose="02000509000000000000" pitchFamily="49" charset="0"/>
              </a:rPr>
              <a:t>GainT5:Value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ConstT5:Value</a:t>
            </a:r>
            <a:r>
              <a:rPr lang="de-AT" sz="1100" dirty="0"/>
              <a:t>]</a:t>
            </a:r>
          </a:p>
          <a:p>
            <a:r>
              <a:rPr lang="de-AT" sz="1100" dirty="0"/>
              <a:t>6:	</a:t>
            </a:r>
            <a:r>
              <a:rPr lang="de-AT" sz="1100" dirty="0" err="1"/>
              <a:t>broken</a:t>
            </a:r>
            <a:r>
              <a:rPr lang="de-AT" sz="1100" dirty="0"/>
              <a:t> </a:t>
            </a:r>
            <a:r>
              <a:rPr lang="de-AT" sz="1100" dirty="0" err="1"/>
              <a:t>bearing</a:t>
            </a:r>
            <a:r>
              <a:rPr lang="de-AT" sz="1100" dirty="0"/>
              <a:t>: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GainT6:Value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ConstT6:Value</a:t>
            </a:r>
            <a:r>
              <a:rPr lang="de-AT" sz="1100" dirty="0"/>
              <a:t>]</a:t>
            </a:r>
          </a:p>
          <a:p>
            <a:r>
              <a:rPr lang="de-AT" sz="1100" dirty="0"/>
              <a:t>7:	</a:t>
            </a:r>
            <a:r>
              <a:rPr lang="de-AT" sz="1100" dirty="0" err="1"/>
              <a:t>triangle</a:t>
            </a:r>
            <a:r>
              <a:rPr lang="de-AT" sz="1100" dirty="0"/>
              <a:t>: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GainT7:Value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ConstT7:Value</a:t>
            </a:r>
            <a:r>
              <a:rPr lang="de-AT" sz="1100" dirty="0"/>
              <a:t>]</a:t>
            </a:r>
          </a:p>
          <a:p>
            <a:endParaRPr lang="de-AT" sz="1100" dirty="0"/>
          </a:p>
          <a:p>
            <a:r>
              <a:rPr lang="de-AT" sz="1100" dirty="0"/>
              <a:t>	</a:t>
            </a:r>
          </a:p>
          <a:p>
            <a:endParaRPr lang="de-AT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67A9C-6F7D-91D8-FA53-ED63999C95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655" y="1039091"/>
            <a:ext cx="5062798" cy="55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1B1617-CAEF-4A6A-8EC5-B397CC09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Modify [Motor] </a:t>
            </a:r>
            <a:r>
              <a:rPr lang="de-AT" dirty="0" err="1"/>
              <a:t>paramters</a:t>
            </a:r>
            <a:r>
              <a:rPr lang="de-AT" dirty="0"/>
              <a:t> – </a:t>
            </a:r>
            <a:r>
              <a:rPr lang="de-AT" dirty="0" err="1"/>
              <a:t>torque_profile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D9528-DFD6-403B-B228-AD8AAB260F48}"/>
              </a:ext>
            </a:extLst>
          </p:cNvPr>
          <p:cNvSpPr txBox="1"/>
          <p:nvPr/>
        </p:nvSpPr>
        <p:spPr>
          <a:xfrm>
            <a:off x="6055839" y="1039091"/>
            <a:ext cx="5484971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b="1" dirty="0" err="1"/>
              <a:t>speed_mode</a:t>
            </a:r>
            <a:endParaRPr lang="de-AT" sz="1100" b="1" dirty="0"/>
          </a:p>
          <a:p>
            <a:r>
              <a:rPr lang="de-AT" sz="1100" dirty="0"/>
              <a:t>0:	Constant </a:t>
            </a:r>
            <a:r>
              <a:rPr lang="de-AT" sz="1100" dirty="0" err="1"/>
              <a:t>speed</a:t>
            </a:r>
            <a:r>
              <a:rPr lang="de-AT" sz="1100" dirty="0"/>
              <a:t>: </a:t>
            </a:r>
            <a:r>
              <a:rPr lang="de-AT" sz="1100" dirty="0" err="1"/>
              <a:t>potentiometer</a:t>
            </a:r>
            <a:endParaRPr lang="de-AT" sz="1100" dirty="0"/>
          </a:p>
          <a:p>
            <a:r>
              <a:rPr lang="de-AT" sz="1100" dirty="0"/>
              <a:t>1:	</a:t>
            </a:r>
            <a:r>
              <a:rPr lang="de-AT" sz="1100" dirty="0" err="1"/>
              <a:t>Constand</a:t>
            </a:r>
            <a:r>
              <a:rPr lang="de-AT" sz="1100" dirty="0"/>
              <a:t> </a:t>
            </a:r>
            <a:r>
              <a:rPr lang="de-AT" sz="1100" dirty="0" err="1"/>
              <a:t>speed</a:t>
            </a:r>
            <a:r>
              <a:rPr lang="de-AT" sz="1100" dirty="0"/>
              <a:t>:</a:t>
            </a:r>
          </a:p>
          <a:p>
            <a:r>
              <a:rPr lang="de-AT" sz="1100" dirty="0"/>
              <a:t>	[</a:t>
            </a:r>
            <a:r>
              <a:rPr lang="de-AT" sz="1100" dirty="0" err="1">
                <a:latin typeface="Courier Code" panose="02000509000000000000" pitchFamily="49" charset="0"/>
              </a:rPr>
              <a:t>const_speed:Value</a:t>
            </a:r>
            <a:r>
              <a:rPr lang="de-AT" sz="1100" dirty="0"/>
              <a:t>]</a:t>
            </a:r>
          </a:p>
          <a:p>
            <a:r>
              <a:rPr lang="de-AT" sz="1100" dirty="0"/>
              <a:t>2:	</a:t>
            </a:r>
            <a:r>
              <a:rPr lang="de-AT" sz="1100" dirty="0" err="1"/>
              <a:t>Trapizoid</a:t>
            </a:r>
            <a:r>
              <a:rPr lang="de-AT" sz="1100" dirty="0"/>
              <a:t> load: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 err="1">
                <a:latin typeface="Courier Code" panose="02000509000000000000" pitchFamily="49" charset="0"/>
              </a:rPr>
              <a:t>t_speed_f:Value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 </a:t>
            </a:r>
            <a:r>
              <a:rPr lang="de-AT" sz="1100" dirty="0" err="1">
                <a:latin typeface="Courier Code" panose="02000509000000000000" pitchFamily="49" charset="0"/>
              </a:rPr>
              <a:t>speed</a:t>
            </a:r>
            <a:r>
              <a:rPr lang="de-AT" sz="1100" dirty="0">
                <a:latin typeface="Courier Code" panose="02000509000000000000" pitchFamily="49" charset="0"/>
              </a:rPr>
              <a:t> _high:Value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 </a:t>
            </a:r>
            <a:r>
              <a:rPr lang="de-AT" sz="1100" dirty="0" err="1">
                <a:latin typeface="Courier Code" panose="02000509000000000000" pitchFamily="49" charset="0"/>
              </a:rPr>
              <a:t>speed</a:t>
            </a:r>
            <a:r>
              <a:rPr lang="de-AT" sz="1100" dirty="0">
                <a:latin typeface="Courier Code" panose="02000509000000000000" pitchFamily="49" charset="0"/>
              </a:rPr>
              <a:t> _low:Value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>
                <a:latin typeface="Courier Code" panose="02000509000000000000" pitchFamily="49" charset="0"/>
              </a:rPr>
              <a:t>t_ </a:t>
            </a:r>
            <a:r>
              <a:rPr lang="de-AT" sz="1100" dirty="0" err="1">
                <a:latin typeface="Courier Code" panose="02000509000000000000" pitchFamily="49" charset="0"/>
              </a:rPr>
              <a:t>speed</a:t>
            </a:r>
            <a:r>
              <a:rPr lang="de-AT" sz="1100" dirty="0">
                <a:latin typeface="Courier Code" panose="02000509000000000000" pitchFamily="49" charset="0"/>
              </a:rPr>
              <a:t> _rate:Tr</a:t>
            </a:r>
            <a:r>
              <a:rPr lang="de-AT" sz="1100" dirty="0"/>
              <a:t>]</a:t>
            </a:r>
          </a:p>
          <a:p>
            <a:pPr marL="457063" lvl="1"/>
            <a:r>
              <a:rPr lang="de-AT" sz="1100" dirty="0"/>
              <a:t>	[</a:t>
            </a:r>
            <a:r>
              <a:rPr lang="de-AT" sz="1100" dirty="0" err="1">
                <a:latin typeface="Courier Code" panose="02000509000000000000" pitchFamily="49" charset="0"/>
              </a:rPr>
              <a:t>t_speed_rate:Tf</a:t>
            </a:r>
            <a:r>
              <a:rPr lang="de-AT" sz="1100" dirty="0"/>
              <a:t>]</a:t>
            </a:r>
          </a:p>
          <a:p>
            <a:endParaRPr lang="de-AT" sz="1100" dirty="0"/>
          </a:p>
          <a:p>
            <a:r>
              <a:rPr lang="de-AT" sz="1100" dirty="0"/>
              <a:t>[</a:t>
            </a:r>
            <a:r>
              <a:rPr lang="de-AT" sz="1100" dirty="0" err="1">
                <a:latin typeface="Courier Code" panose="02000509000000000000" pitchFamily="49" charset="0"/>
              </a:rPr>
              <a:t>motor_torquemode</a:t>
            </a:r>
            <a:r>
              <a:rPr lang="de-AT" sz="1100" dirty="0"/>
              <a:t>] </a:t>
            </a:r>
          </a:p>
          <a:p>
            <a:r>
              <a:rPr lang="de-AT" sz="1100" dirty="0"/>
              <a:t>	1=</a:t>
            </a:r>
            <a:r>
              <a:rPr lang="de-AT" sz="1100" dirty="0" err="1"/>
              <a:t>speed</a:t>
            </a:r>
            <a:r>
              <a:rPr lang="de-AT" sz="1100" dirty="0"/>
              <a:t> </a:t>
            </a:r>
            <a:r>
              <a:rPr lang="de-AT" sz="1100" dirty="0" err="1"/>
              <a:t>control</a:t>
            </a:r>
            <a:endParaRPr lang="de-AT" sz="1100" dirty="0"/>
          </a:p>
          <a:p>
            <a:r>
              <a:rPr lang="de-AT" sz="1100" dirty="0"/>
              <a:t>	0=</a:t>
            </a:r>
            <a:r>
              <a:rPr lang="de-AT" sz="1100" dirty="0" err="1"/>
              <a:t>torque</a:t>
            </a:r>
            <a:r>
              <a:rPr lang="de-AT" sz="1100" dirty="0"/>
              <a:t> </a:t>
            </a:r>
            <a:r>
              <a:rPr lang="de-AT" sz="1100" dirty="0" err="1"/>
              <a:t>control</a:t>
            </a:r>
            <a:endParaRPr lang="de-AT" sz="1100" dirty="0"/>
          </a:p>
          <a:p>
            <a:endParaRPr lang="de-AT" sz="1100" dirty="0"/>
          </a:p>
          <a:p>
            <a:r>
              <a:rPr lang="de-AT" sz="1100" dirty="0" err="1"/>
              <a:t>Torquevalue</a:t>
            </a:r>
            <a:r>
              <a:rPr lang="de-AT" sz="1100" dirty="0"/>
              <a:t> </a:t>
            </a:r>
          </a:p>
          <a:p>
            <a:r>
              <a:rPr lang="de-AT" sz="1100" dirty="0"/>
              <a:t>[</a:t>
            </a:r>
            <a:r>
              <a:rPr lang="de-AT" sz="1100" dirty="0" err="1">
                <a:latin typeface="Courier Code" panose="02000509000000000000" pitchFamily="49" charset="0"/>
              </a:rPr>
              <a:t>const_torque_mode:Value</a:t>
            </a:r>
            <a:r>
              <a:rPr lang="de-AT" sz="1100" dirty="0"/>
              <a:t>] </a:t>
            </a:r>
          </a:p>
          <a:p>
            <a:endParaRPr lang="de-AT" sz="1100" dirty="0"/>
          </a:p>
          <a:p>
            <a:endParaRPr lang="de-AT" sz="1100" dirty="0"/>
          </a:p>
          <a:p>
            <a:r>
              <a:rPr lang="de-AT" sz="1100" dirty="0"/>
              <a:t>Switch </a:t>
            </a:r>
            <a:r>
              <a:rPr lang="de-AT" sz="1100" dirty="0" err="1"/>
              <a:t>between</a:t>
            </a:r>
            <a:r>
              <a:rPr lang="de-AT" sz="1100" dirty="0"/>
              <a:t> </a:t>
            </a:r>
            <a:r>
              <a:rPr lang="de-AT" sz="1100" dirty="0" err="1"/>
              <a:t>Dyno</a:t>
            </a:r>
            <a:r>
              <a:rPr lang="de-AT" sz="1100" dirty="0"/>
              <a:t>/Motor</a:t>
            </a:r>
          </a:p>
          <a:p>
            <a:r>
              <a:rPr lang="de-AT" sz="1100" dirty="0"/>
              <a:t>[</a:t>
            </a:r>
            <a:r>
              <a:rPr lang="de-AT" sz="1100" dirty="0" err="1">
                <a:latin typeface="Courier Code" panose="02000509000000000000" pitchFamily="49" charset="0"/>
              </a:rPr>
              <a:t>DynoMotor</a:t>
            </a:r>
            <a:r>
              <a:rPr lang="de-AT" sz="1100" dirty="0"/>
              <a:t>] </a:t>
            </a:r>
          </a:p>
          <a:p>
            <a:r>
              <a:rPr lang="de-AT" sz="1100" dirty="0"/>
              <a:t>	1=</a:t>
            </a:r>
            <a:r>
              <a:rPr lang="de-AT" sz="1100" dirty="0" err="1"/>
              <a:t>Dyno</a:t>
            </a:r>
            <a:endParaRPr lang="de-AT" sz="1100" dirty="0"/>
          </a:p>
          <a:p>
            <a:r>
              <a:rPr lang="de-AT" sz="1100" dirty="0"/>
              <a:t>	0=Motor</a:t>
            </a:r>
          </a:p>
          <a:p>
            <a:endParaRPr lang="de-AT" sz="1100" dirty="0"/>
          </a:p>
          <a:p>
            <a:endParaRPr lang="de-AT" sz="1100" dirty="0"/>
          </a:p>
          <a:p>
            <a:endParaRPr lang="de-AT" sz="1100" dirty="0"/>
          </a:p>
          <a:p>
            <a:endParaRPr lang="de-AT" sz="1100" dirty="0"/>
          </a:p>
          <a:p>
            <a:r>
              <a:rPr lang="de-AT" sz="1100" dirty="0"/>
              <a:t>	</a:t>
            </a:r>
          </a:p>
          <a:p>
            <a:endParaRPr lang="de-AT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2EB094-ABB3-433F-025D-52344F0A71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985" y="1039090"/>
            <a:ext cx="5260741" cy="56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0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2051DE-3908-4341-9437-9B23782E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Scope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761B1-9517-48D6-B7F1-E9A8E20B6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00" y="1295956"/>
            <a:ext cx="5832015" cy="5248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843ECF-2350-48F6-8D9B-483AF7FE3B70}"/>
              </a:ext>
            </a:extLst>
          </p:cNvPr>
          <p:cNvSpPr txBox="1"/>
          <p:nvPr/>
        </p:nvSpPr>
        <p:spPr>
          <a:xfrm>
            <a:off x="6551494" y="1448316"/>
            <a:ext cx="1675962" cy="4614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sz="2399" b="1" dirty="0"/>
              <a:t>Start Scope</a:t>
            </a:r>
            <a:endParaRPr lang="en-GB" sz="2399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EBAD3D-1ED1-448C-89A2-680BBC27D34D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752145" y="1679025"/>
            <a:ext cx="4799348" cy="138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FFCAE14-DBE9-41F2-A72D-27B3CCEE55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206" y="2230710"/>
            <a:ext cx="6774853" cy="36153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9A2100-6436-453E-8CF1-CA5F556F9806}"/>
              </a:ext>
            </a:extLst>
          </p:cNvPr>
          <p:cNvSpPr txBox="1"/>
          <p:nvPr/>
        </p:nvSpPr>
        <p:spPr>
          <a:xfrm>
            <a:off x="9822059" y="2154530"/>
            <a:ext cx="2290585" cy="160002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sz="1400" dirty="0"/>
              <a:t>Set „Sample Time Factor“</a:t>
            </a:r>
          </a:p>
          <a:p>
            <a:endParaRPr lang="de-AT" sz="1400" dirty="0"/>
          </a:p>
          <a:p>
            <a:r>
              <a:rPr lang="de-AT" sz="1400" dirty="0"/>
              <a:t>Press the „Sample“ Button to monitor signals.</a:t>
            </a:r>
          </a:p>
          <a:p>
            <a:endParaRPr lang="de-AT" sz="1400"/>
          </a:p>
          <a:p>
            <a:endParaRPr lang="de-AT" sz="1400"/>
          </a:p>
          <a:p>
            <a:endParaRPr lang="en-GB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54613C-D1D3-4EB0-B051-869D68B6D391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035036" y="2954541"/>
            <a:ext cx="5787023" cy="16171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758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271E573735D14EB8AEB0879B84133F" ma:contentTypeVersion="16" ma:contentTypeDescription="Create a new document." ma:contentTypeScope="" ma:versionID="3d9cbc1e3094feff5ba69d972ac6d4c3">
  <xsd:schema xmlns:xsd="http://www.w3.org/2001/XMLSchema" xmlns:xs="http://www.w3.org/2001/XMLSchema" xmlns:p="http://schemas.microsoft.com/office/2006/metadata/properties" xmlns:ns2="0087853e-1d4e-4984-8aed-591f7433280c" xmlns:ns3="69e9e2e4-8445-40bc-8a87-a11828702886" targetNamespace="http://schemas.microsoft.com/office/2006/metadata/properties" ma:root="true" ma:fieldsID="ff8bdb8455878bb28658ef14f4f0fd22" ns2:_="" ns3:_="">
    <xsd:import namespace="0087853e-1d4e-4984-8aed-591f7433280c"/>
    <xsd:import namespace="69e9e2e4-8445-40bc-8a87-a118287028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87853e-1d4e-4984-8aed-591f743328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05317c1-dc7b-42fe-8bc5-04171b90da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e9e2e4-8445-40bc-8a87-a118287028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9706849-565d-47bf-bc59-988c3ffa514e}" ma:internalName="TaxCatchAll" ma:showField="CatchAllData" ma:web="69e9e2e4-8445-40bc-8a87-a118287028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9e9e2e4-8445-40bc-8a87-a11828702886" xsi:nil="true"/>
    <lcf76f155ced4ddcb4097134ff3c332f xmlns="0087853e-1d4e-4984-8aed-591f743328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4D7713-8241-4614-A5AE-930E363BA1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87853e-1d4e-4984-8aed-591f7433280c"/>
    <ds:schemaRef ds:uri="69e9e2e4-8445-40bc-8a87-a118287028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774815-801A-4D0C-AAC8-304A8EA5EAE0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0087853e-1d4e-4984-8aed-591f7433280c"/>
    <ds:schemaRef ds:uri="http://schemas.microsoft.com/office/infopath/2007/PartnerControls"/>
    <ds:schemaRef ds:uri="http://schemas.openxmlformats.org/package/2006/metadata/core-properties"/>
    <ds:schemaRef ds:uri="69e9e2e4-8445-40bc-8a87-a1182870288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13645</TotalTime>
  <Words>892</Words>
  <Application>Microsoft Office PowerPoint</Application>
  <PresentationFormat>Custom</PresentationFormat>
  <Paragraphs>168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Code</vt:lpstr>
      <vt:lpstr>Office Theme</vt:lpstr>
      <vt:lpstr>miniDyno 2.0</vt:lpstr>
      <vt:lpstr>The WHY?</vt:lpstr>
      <vt:lpstr>miniDyno 2.0 features</vt:lpstr>
      <vt:lpstr>miniDyno 2.0</vt:lpstr>
      <vt:lpstr>Dual usage: SCILAB / X2C or Standalone</vt:lpstr>
      <vt:lpstr>How to use the X2C based DYNO standalone</vt:lpstr>
      <vt:lpstr>Firmware:</vt:lpstr>
      <vt:lpstr>miniDyno 2.0 setup</vt:lpstr>
      <vt:lpstr>Unified motor bracket:</vt:lpstr>
      <vt:lpstr>Unified motor bracket:</vt:lpstr>
      <vt:lpstr>Future enhancements:</vt:lpstr>
      <vt:lpstr>Modify [Dyno] paramters – torque_profile</vt:lpstr>
      <vt:lpstr>Modify [Motor] paramters – torque_profile</vt:lpstr>
      <vt:lpstr>Scope</vt:lpstr>
    </vt:vector>
  </TitlesOfParts>
  <Company>SMSC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2020</dc:title>
  <dc:creator>Michael Wikan</dc:creator>
  <cp:lastModifiedBy>Christoph Baumgartner - M91110</cp:lastModifiedBy>
  <cp:revision>238</cp:revision>
  <dcterms:created xsi:type="dcterms:W3CDTF">2019-09-10T21:33:18Z</dcterms:created>
  <dcterms:modified xsi:type="dcterms:W3CDTF">2023-01-11T12:08:36Z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8fbba442-8e62-441a-8a37-77e419e57804</vt:lpwstr>
  </property>
  <property fmtid="{D5CDD505-2E9C-101B-9397-08002B2CF9AE}" pid="3" name="ContentTypeId">
    <vt:lpwstr>0x01010076271E573735D14EB8AEB0879B84133F</vt:lpwstr>
  </property>
  <property fmtid="{D5CDD505-2E9C-101B-9397-08002B2CF9AE}" pid="4" name="MediaServiceImageTags">
    <vt:lpwstr/>
  </property>
</Properties>
</file>